
<file path=[Content_Types].xml><?xml version="1.0" encoding="utf-8"?>
<Types xmlns="http://schemas.openxmlformats.org/package/2006/content-types">
  <Default Extension="bin" ContentType="image/x-emf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media/image4.bin" ContentType="image/png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64" r:id="rId2"/>
    <p:sldId id="265" r:id="rId3"/>
    <p:sldId id="278" r:id="rId4"/>
    <p:sldId id="280" r:id="rId5"/>
    <p:sldId id="281" r:id="rId6"/>
    <p:sldId id="266" r:id="rId7"/>
    <p:sldId id="282" r:id="rId8"/>
    <p:sldId id="279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67" r:id="rId18"/>
    <p:sldId id="268" r:id="rId19"/>
    <p:sldId id="291" r:id="rId20"/>
    <p:sldId id="270" r:id="rId21"/>
    <p:sldId id="269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88825" cy="6858000"/>
  <p:notesSz cx="6797675" cy="9926638"/>
  <p:embeddedFontLst>
    <p:embeddedFont>
      <p:font typeface="AU Passata" panose="020B0503030502030804" pitchFamily="34" charset="77"/>
      <p:regular r:id="rId32"/>
      <p:bold r:id="rId33"/>
      <p:italic r:id="rId34"/>
      <p:boldItalic r:id="rId35"/>
    </p:embeddedFont>
    <p:embeddedFont>
      <p:font typeface="AU Passata Light" panose="020B0303030902030804" pitchFamily="34" charset="77"/>
      <p:regular r:id="rId36"/>
      <p:bold r:id="rId37"/>
      <p:italic r:id="rId38"/>
      <p:boldItalic r:id="rId39"/>
    </p:embeddedFont>
    <p:embeddedFont>
      <p:font typeface="AU Peto" pitchFamily="82" charset="77"/>
      <p:regular r:id="rId40"/>
      <p:bold r:id="rId41"/>
    </p:embeddedFont>
    <p:embeddedFont>
      <p:font typeface="Georgia" panose="02040502050405020303" pitchFamily="18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CCCCCF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4" autoAdjust="0"/>
    <p:restoredTop sz="93493" autoAdjust="0"/>
  </p:normalViewPr>
  <p:slideViewPr>
    <p:cSldViewPr snapToObjects="1" showGuides="1">
      <p:cViewPr varScale="1">
        <p:scale>
          <a:sx n="118" d="100"/>
          <a:sy n="118" d="100"/>
        </p:scale>
        <p:origin x="952" y="2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bin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title</a:t>
            </a:r>
            <a:r>
              <a:rPr lang="da-DK" dirty="0"/>
              <a:t> style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Institut for Datalogi</a:t>
            </a:r>
          </a:p>
        </p:txBody>
      </p:sp>
      <p:sp>
        <p:nvSpPr>
          <p:cNvPr id="34" name="Date_DateCustomA"/>
          <p:cNvSpPr txBox="1">
            <a:spLocks noChangeArrowheads="1"/>
          </p:cNvSpPr>
          <p:nvPr userDrawn="1"/>
        </p:nvSpPr>
        <p:spPr bwMode="auto">
          <a:xfrm>
            <a:off x="3678556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  <a:defRPr/>
            </a:pPr>
            <a:r>
              <a:rPr lang="da-DK" sz="700" b="0" kern="1200" cap="all" baseline="0" dirty="0">
                <a:solidFill>
                  <a:schemeClr val="bg1"/>
                </a:solidFill>
                <a:latin typeface="AU Passata" pitchFamily="34" charset="0"/>
                <a:ea typeface="+mn-ea"/>
                <a:cs typeface="+mn-cs"/>
              </a:rPr>
              <a:t>objektorienteret programmering</a:t>
            </a:r>
          </a:p>
        </p:txBody>
      </p:sp>
      <p:sp>
        <p:nvSpPr>
          <p:cNvPr id="36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Per </a:t>
            </a:r>
            <a:r>
              <a:rPr lang="da-DK" sz="700" b="0" cap="all" baseline="0" dirty="0" err="1">
                <a:solidFill>
                  <a:schemeClr val="bg1"/>
                </a:solidFill>
                <a:latin typeface="+mn-lt"/>
              </a:rPr>
              <a:t>selmann</a:t>
            </a: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 </a:t>
            </a:r>
            <a:r>
              <a:rPr lang="da-DK" sz="700" b="0" cap="all" baseline="0" dirty="0" err="1">
                <a:solidFill>
                  <a:schemeClr val="bg1"/>
                </a:solidFill>
                <a:latin typeface="+mn-lt"/>
              </a:rPr>
              <a:t>andreassen</a:t>
            </a: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5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9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22">
            <a:extLst>
              <a:ext uri="{FF2B5EF4-FFF2-40B4-BE49-F238E27FC236}">
                <a16:creationId xmlns:a16="http://schemas.microsoft.com/office/drawing/2014/main" id="{EB1DCABA-936F-B9C3-36F1-F07AE32E289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425" y="6136196"/>
            <a:ext cx="59285" cy="461156"/>
          </a:xfrm>
          <a:prstGeom prst="rect">
            <a:avLst/>
          </a:prstGeom>
        </p:spPr>
      </p:pic>
      <p:pic>
        <p:nvPicPr>
          <p:cNvPr id="5" name="SecondaryLogo">
            <a:extLst>
              <a:ext uri="{FF2B5EF4-FFF2-40B4-BE49-F238E27FC236}">
                <a16:creationId xmlns:a16="http://schemas.microsoft.com/office/drawing/2014/main" id="{F0717B10-DDED-96F2-8910-BF6FDA23517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000" y="6165304"/>
            <a:ext cx="1658237" cy="5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a-DK" sz="4799" dirty="0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da-DK" sz="4799" dirty="0"/>
          </a:p>
        </p:txBody>
      </p:sp>
      <p:sp>
        <p:nvSpPr>
          <p:cNvPr id="38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Institut for Datalogi</a:t>
            </a:r>
          </a:p>
        </p:txBody>
      </p:sp>
      <p:sp>
        <p:nvSpPr>
          <p:cNvPr id="43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  <p:sp>
        <p:nvSpPr>
          <p:cNvPr id="39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kern="1200" cap="all" baseline="0" dirty="0">
                <a:solidFill>
                  <a:schemeClr val="bg1"/>
                </a:solidFill>
                <a:latin typeface="AU Passata" pitchFamily="34" charset="0"/>
                <a:ea typeface="+mn-ea"/>
                <a:cs typeface="+mn-cs"/>
              </a:rPr>
              <a:t>objektorienteret  programmering</a:t>
            </a: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08340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Per Selmann Andreassen</a:t>
            </a:r>
          </a:p>
        </p:txBody>
      </p:sp>
      <p:sp>
        <p:nvSpPr>
          <p:cNvPr id="40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22">
            <a:extLst>
              <a:ext uri="{FF2B5EF4-FFF2-40B4-BE49-F238E27FC236}">
                <a16:creationId xmlns:a16="http://schemas.microsoft.com/office/drawing/2014/main" id="{7D7626BE-428D-B549-D40F-DB8F9201F5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425" y="6136196"/>
            <a:ext cx="59285" cy="461156"/>
          </a:xfrm>
          <a:prstGeom prst="rect">
            <a:avLst/>
          </a:prstGeom>
        </p:spPr>
      </p:pic>
      <p:pic>
        <p:nvPicPr>
          <p:cNvPr id="7" name="SecondaryLogo">
            <a:extLst>
              <a:ext uri="{FF2B5EF4-FFF2-40B4-BE49-F238E27FC236}">
                <a16:creationId xmlns:a16="http://schemas.microsoft.com/office/drawing/2014/main" id="{618C9A71-0635-52C6-FF77-7C49E83134B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000" y="6165304"/>
            <a:ext cx="1658237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sp>
        <p:nvSpPr>
          <p:cNvPr id="25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Institut for Datalogi</a:t>
            </a:r>
          </a:p>
        </p:txBody>
      </p:sp>
      <p:sp>
        <p:nvSpPr>
          <p:cNvPr id="30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  <p:sp>
        <p:nvSpPr>
          <p:cNvPr id="26" name="Date_DateCustomA"/>
          <p:cNvSpPr txBox="1">
            <a:spLocks noChangeArrowheads="1"/>
          </p:cNvSpPr>
          <p:nvPr userDrawn="1"/>
        </p:nvSpPr>
        <p:spPr bwMode="auto">
          <a:xfrm>
            <a:off x="3678556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kern="1200" cap="all" baseline="0" dirty="0">
                <a:solidFill>
                  <a:schemeClr val="bg1"/>
                </a:solidFill>
                <a:latin typeface="AU Passata" pitchFamily="34" charset="0"/>
                <a:ea typeface="+mn-ea"/>
                <a:cs typeface="+mn-cs"/>
              </a:rPr>
              <a:t>objektorienteret  programmering</a:t>
            </a: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Per Selmann Andreassen</a:t>
            </a:r>
          </a:p>
        </p:txBody>
      </p:sp>
      <p:sp>
        <p:nvSpPr>
          <p:cNvPr id="27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425" y="6136196"/>
            <a:ext cx="59285" cy="46115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5" name="SecondaryLogo">
            <a:extLst>
              <a:ext uri="{FF2B5EF4-FFF2-40B4-BE49-F238E27FC236}">
                <a16:creationId xmlns:a16="http://schemas.microsoft.com/office/drawing/2014/main" id="{099AC099-8271-52B3-B591-77C596730F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000" y="6165304"/>
            <a:ext cx="1658237" cy="5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a-DK" dirty="0"/>
              <a:t>Insert title</a:t>
            </a:r>
            <a:endParaRPr lang="da-DK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da-DK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r>
              <a:rPr lang="da-DK" dirty="0"/>
              <a:t>6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da-DK" dirty="0"/>
              <a:t>Click to add Quote text, for next level ENTER and TAB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da-DK" dirty="0"/>
              <a:t>Click to add Quote text, for next level ENTER and TAB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da-DK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da-DK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da-DK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da-DK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da-DK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da-DK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5" name="LAN_AUWBreak"/>
          <p:cNvSpPr/>
          <p:nvPr userDrawn="1"/>
        </p:nvSpPr>
        <p:spPr bwMode="auto">
          <a:xfrm>
            <a:off x="6022613" y="2804400"/>
            <a:ext cx="65" cy="757567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 
Universitet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 dirty="0"/>
              <a:t>08-12-2023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 dirty="0"/>
              <a:t>Click to edit Master title style</a:t>
            </a:r>
            <a:endParaRPr lang="da-DK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 dirty="0"/>
              <a:t>Click to edit Master text styles</a:t>
            </a:r>
            <a:endParaRPr lang="da-DK" dirty="0"/>
          </a:p>
          <a:p>
            <a:pPr lvl="1"/>
            <a:r>
              <a:rPr lang="da-DK" noProof="0" dirty="0"/>
              <a:t>Second level</a:t>
            </a:r>
            <a:endParaRPr lang="da-DK" dirty="0"/>
          </a:p>
          <a:p>
            <a:pPr lvl="2"/>
            <a:r>
              <a:rPr lang="da-DK" noProof="0" dirty="0"/>
              <a:t>Third level</a:t>
            </a:r>
            <a:endParaRPr lang="da-DK" dirty="0"/>
          </a:p>
          <a:p>
            <a:pPr lvl="3"/>
            <a:r>
              <a:rPr lang="da-DK" noProof="0" dirty="0"/>
              <a:t>Fourth level</a:t>
            </a:r>
            <a:endParaRPr lang="da-DK" dirty="0"/>
          </a:p>
          <a:p>
            <a:pPr lvl="4"/>
            <a:r>
              <a:rPr lang="da-DK" noProof="0" dirty="0"/>
              <a:t>Fifth level</a:t>
            </a:r>
            <a:endParaRPr lang="da-DK" dirty="0"/>
          </a:p>
          <a:p>
            <a:pPr lvl="5"/>
            <a:r>
              <a:rPr lang="da-DK" noProof="0" dirty="0"/>
              <a:t>6 level</a:t>
            </a:r>
            <a:endParaRPr lang="da-DK" dirty="0"/>
          </a:p>
          <a:p>
            <a:pPr lvl="6"/>
            <a:r>
              <a:rPr lang="da-DK" noProof="0" dirty="0"/>
              <a:t>7 level</a:t>
            </a:r>
            <a:endParaRPr lang="da-DK" dirty="0"/>
          </a:p>
          <a:p>
            <a:pPr lvl="7"/>
            <a:r>
              <a:rPr lang="da-DK" noProof="0" dirty="0"/>
              <a:t>8 level</a:t>
            </a:r>
            <a:endParaRPr lang="da-DK" dirty="0"/>
          </a:p>
          <a:p>
            <a:pPr lvl="8"/>
            <a:r>
              <a:rPr lang="da-DK" noProof="0" dirty="0"/>
              <a:t>9 level</a:t>
            </a:r>
            <a:endParaRPr lang="da-DK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19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7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tx1"/>
                </a:solidFill>
                <a:latin typeface="+mn-lt"/>
              </a:rPr>
              <a:t>objektorienteret programmering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38428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tx1"/>
                </a:solidFill>
                <a:latin typeface="+mn-lt"/>
              </a:rPr>
              <a:t>Per selmann andreassen</a:t>
            </a:r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797" y="6237312"/>
            <a:ext cx="44541" cy="346475"/>
          </a:xfrm>
          <a:prstGeom prst="rect">
            <a:avLst/>
          </a:prstGeom>
        </p:spPr>
      </p:pic>
      <p:sp>
        <p:nvSpPr>
          <p:cNvPr id="25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Institut for Datalogi</a:t>
            </a:r>
          </a:p>
        </p:txBody>
      </p:sp>
      <p:sp>
        <p:nvSpPr>
          <p:cNvPr id="26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2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da-DK" smtClean="0"/>
              <a:pPr/>
              <a:t>23.01.2026</a:t>
            </a:fld>
            <a:r>
              <a:rPr lang="da-DK"/>
              <a:t>08-12-2023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3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da-DK" dirty="0"/>
          </a:p>
        </p:txBody>
      </p:sp>
      <p:pic>
        <p:nvPicPr>
          <p:cNvPr id="4" name="SecondaryLogo_sort">
            <a:extLst>
              <a:ext uri="{FF2B5EF4-FFF2-40B4-BE49-F238E27FC236}">
                <a16:creationId xmlns:a16="http://schemas.microsoft.com/office/drawing/2014/main" id="{9F781646-5A57-AAC5-0DB2-C3955CE0D16E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68" y="6165304"/>
            <a:ext cx="1658237" cy="5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kursuskatalog.au.dk/da/course/136319/Objektorienteret-programmering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1CFE-2CB0-1E08-5108-C038F112B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K" b="0" dirty="0"/>
              <a:t>introduktion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7A7BF-E502-F908-3CCB-340B29B6D8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DK" dirty="0"/>
              <a:t>Objektorienteret programmering</a:t>
            </a:r>
          </a:p>
          <a:p>
            <a:r>
              <a:rPr lang="en-DK" dirty="0"/>
              <a:t>Torsdag 29. januar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E936F-6BFE-6239-7DF3-6067AC9799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76B8285-EF74-C042-95FB-025EC40972AE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48961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DA572-A273-EF96-AEDD-276E903CA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sz="1800" noProof="1"/>
          </a:p>
          <a:p>
            <a:endParaRPr lang="da-DK" sz="1800" noProof="1"/>
          </a:p>
          <a:p>
            <a:endParaRPr lang="da-DK" sz="1800" noProof="1"/>
          </a:p>
          <a:p>
            <a:endParaRPr lang="da-DK" sz="1800" noProof="1"/>
          </a:p>
          <a:p>
            <a:endParaRPr lang="da-DK" sz="1800" noProof="1"/>
          </a:p>
          <a:p>
            <a:endParaRPr lang="da-DK" sz="1800" noProof="1"/>
          </a:p>
          <a:p>
            <a:pPr>
              <a:buNone/>
            </a:pPr>
            <a:endParaRPr lang="da-DK" sz="1800" noProof="1"/>
          </a:p>
          <a:p>
            <a:pPr>
              <a:buNone/>
            </a:pPr>
            <a:endParaRPr lang="da-DK" sz="1800" noProof="1"/>
          </a:p>
          <a:p>
            <a:pPr marL="1656000" lvl="8" indent="0">
              <a:buNone/>
            </a:pPr>
            <a:r>
              <a:rPr lang="da-DK" sz="1800" noProof="1"/>
              <a:t>									        </a:t>
            </a:r>
            <a:r>
              <a:rPr lang="da-DK" sz="1800" noProof="1">
                <a:hlinkClick r:id="rId2"/>
              </a:rPr>
              <a:t>link</a:t>
            </a:r>
            <a:endParaRPr lang="da-DK" sz="1800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29764-90D2-CE1A-B945-71F870A67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fra kursuskataloget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F064F-5550-927F-31B5-7FEAD4163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1C536-0066-2EF2-E456-02FC92AC5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662" y="1844824"/>
            <a:ext cx="10000114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07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7F644-874B-9243-548E-07180D094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09761-8493-EBDC-41B1-0B08A5755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1"/>
              <a:t>Kursusindhold</a:t>
            </a:r>
          </a:p>
          <a:p>
            <a:endParaRPr lang="da-DK" sz="1800" noProof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Kurset giver en introduktion til objektorienteret programmering i Python, herunder abstrakte datatyper, objekter, klasser, nedarvning og indkapsling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Agentbaseret modellering med objektorienteret programmering i Python, som suppleres med agentbaseret modellering i Scratch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Udvikling af objektorienterede programmer tager udgangspunkt i fagdidaktiske metoder samt fokus på test og fejlfinding.</a:t>
            </a:r>
          </a:p>
          <a:p>
            <a:endParaRPr lang="da-DK" sz="1800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CDC6C7-264C-C022-AE61-9A9499AD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fra kursuskataloget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F6B62-79F5-5898-D22A-7E9F30878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8A5E3D-CBC3-D15A-FA84-DEA34156F2AF}"/>
              </a:ext>
            </a:extLst>
          </p:cNvPr>
          <p:cNvSpPr/>
          <p:nvPr/>
        </p:nvSpPr>
        <p:spPr bwMode="auto">
          <a:xfrm>
            <a:off x="837828" y="2636912"/>
            <a:ext cx="10368335" cy="1872208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559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598CE-BE98-8380-4F13-52DF99E3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B2E68-E7E2-0375-089F-6D4CAF76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1"/>
              <a:t>Kursusindhold</a:t>
            </a:r>
          </a:p>
          <a:p>
            <a:endParaRPr lang="da-DK" sz="1800" noProof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Kurset giver en introduktion til objektorienteret programmering i Python, herunder abstrakte datatyper, objekter, klasser, nedarvning og indkapsling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Agentbaseret modellering med objektorienteret programmering i Python, som suppleres med agentbaseret modellering i Scratch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Udvikling af objektorienterede programmer tager udgangspunkt i fagdidaktiske metoder samt fokus på test og fejlfinding.</a:t>
            </a:r>
          </a:p>
          <a:p>
            <a:endParaRPr lang="da-DK" sz="1800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BC940-BF5F-A0BB-D4EC-3C777FDB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fra kursuskataloget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5028E-D5D7-FDC4-42AE-ECBF86D2E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31A35A-2D9A-12AC-55C2-F5E3FC145356}"/>
              </a:ext>
            </a:extLst>
          </p:cNvPr>
          <p:cNvSpPr/>
          <p:nvPr/>
        </p:nvSpPr>
        <p:spPr bwMode="auto">
          <a:xfrm>
            <a:off x="837828" y="3284984"/>
            <a:ext cx="10368335" cy="1224136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73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B1E7F-1E5A-A521-E549-F2EA12AB5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B8FCA-5235-9EE5-60CA-258B5D56E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1"/>
              <a:t>Kursusindhold</a:t>
            </a:r>
          </a:p>
          <a:p>
            <a:endParaRPr lang="da-DK" sz="1800" noProof="1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Kurset giver en introduktion til objektorienteret programmering i Python, herunder abstrakte datatyper, objekter, klasser, nedarvning og indkapsling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Agentbaseret modellering med objektorienteret programmering i Python, som suppleres med agentbaseret modellering i Scratch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Udvikling af objektorienterede programmer tager udgangspunkt i fagdidaktiske metoder samt fokus på test og fejlfinding.</a:t>
            </a:r>
          </a:p>
          <a:p>
            <a:endParaRPr lang="da-DK" sz="1800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79786-FB4E-CA7D-AA20-39F10D44A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fra kursuskataloget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7E26C-BF6E-F333-07FA-4E189F64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0897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F454-3244-4A0D-3743-1690788C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37A99-35DA-D60F-4A9E-082B637B7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1"/>
              <a:t>Formål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Kursets formål er at introducere objektorienteret programmering, så deltagerne opnår kendskab til de væsentlige begreber inden for objektorientede programmeringssprog, agentbaseret modellering samt konstruktion af eksemplariske undervisningsforløb.</a:t>
            </a:r>
          </a:p>
          <a:p>
            <a:endParaRPr lang="da-DK" sz="1800" noProof="1"/>
          </a:p>
          <a:p>
            <a:r>
              <a:rPr lang="da-DK" sz="1800" dirty="0"/>
              <a:t>Læringsmål</a:t>
            </a:r>
            <a:br>
              <a:rPr lang="da-DK" sz="1800" dirty="0"/>
            </a:br>
            <a:endParaRPr lang="da-DK" sz="1800" dirty="0"/>
          </a:p>
          <a:p>
            <a:r>
              <a:rPr lang="da-DK" sz="1800" dirty="0"/>
              <a:t>I slutningen af kurset vil deltagerne kunne: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dirty="0"/>
              <a:t> Anvende et objektorienterede programmeringssprog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dirty="0"/>
              <a:t> Udvikle velstrukturerede objektorienterede programmer og udføre test og fejlfinding af disse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dirty="0"/>
              <a:t> Modellere og simulere komplekse systemer med agentbaserede modeller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dirty="0"/>
              <a:t> Anvende objektorienteret programmering til agentbaseret modellering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dirty="0"/>
              <a:t> Udvikle undervisningsforløb i objektorienteret programmering</a:t>
            </a:r>
          </a:p>
          <a:p>
            <a:endParaRPr lang="da-DK" sz="1800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D4995-C1F9-65C9-2015-76681268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fra kursuskataloget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501D6-6B76-9CF3-714E-42BFF24F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B0F9D-175F-24C0-1370-DFE088D09D96}"/>
              </a:ext>
            </a:extLst>
          </p:cNvPr>
          <p:cNvSpPr/>
          <p:nvPr/>
        </p:nvSpPr>
        <p:spPr bwMode="auto">
          <a:xfrm>
            <a:off x="837828" y="2924944"/>
            <a:ext cx="10368335" cy="280831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241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4EEF7-D513-95F6-6312-8C6731035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D424F-B6E7-B8F8-08EA-9C3B83A67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z="1800" noProof="1"/>
              <a:t>Formål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sz="1800" noProof="1"/>
              <a:t>Kursets formål er at introducere objektorienteret programmering, så deltagerne opnår kendskab til de væsentlige begreber inden for objektorientede programmeringssprog, agentbaseret modellering samt konstruktion af eksemplariske undervisningsforløb.</a:t>
            </a:r>
          </a:p>
          <a:p>
            <a:endParaRPr lang="da-DK" sz="1800" noProof="1"/>
          </a:p>
          <a:p>
            <a:r>
              <a:rPr lang="da-DK" sz="1800" dirty="0"/>
              <a:t>Læringsmål</a:t>
            </a:r>
            <a:br>
              <a:rPr lang="da-DK" sz="1800" dirty="0"/>
            </a:br>
            <a:endParaRPr lang="da-DK" sz="1800" dirty="0"/>
          </a:p>
          <a:p>
            <a:r>
              <a:rPr lang="da-DK" sz="1800" dirty="0"/>
              <a:t>I slutningen af kurset vil deltagerne kunne: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dirty="0"/>
              <a:t> Anvende et objektorienteret programmeringssprog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dirty="0"/>
              <a:t> Udvikle velstrukturerede objektorienterede programmer og udføre test og fejlfinding af disse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dirty="0"/>
              <a:t> Modellere og simulere komplekse systemer med agentbaserede modeller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dirty="0"/>
              <a:t> Anvende objektorienteret programmering til agentbaseret modellering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dirty="0"/>
              <a:t> Udvikle undervisningsforløb i objektorienteret programmering</a:t>
            </a:r>
          </a:p>
          <a:p>
            <a:endParaRPr lang="da-DK" sz="1800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2E07B5-1A8C-630C-E225-DD49F8C97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fra kursuskataloget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DCB8A-DFC8-6AB1-CF71-39B9643B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9395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7AE78-5753-B44F-F786-C3B0CDC76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718CD-4529-81F2-DB27-9CF3DC6BD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7E5D4-03BD-3765-8451-B8286D9E4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7D0B52-2886-661C-F330-D6CD8FB2F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8564958" cy="457626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Overordnede ideer</a:t>
            </a:r>
            <a:endParaRPr lang="da-DK" noProof="0" dirty="0">
              <a:solidFill>
                <a:srgbClr val="0A0A0A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b="0" i="0" noProof="0" dirty="0">
                <a:solidFill>
                  <a:srgbClr val="0A0A0A"/>
                </a:solidFill>
                <a:effectLst/>
              </a:rPr>
              <a:t>Generel introduktion til objektorienteret 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Overbygning i forhold til </a:t>
            </a:r>
            <a:r>
              <a:rPr lang="da-DK" sz="1600" i="1" dirty="0">
                <a:solidFill>
                  <a:srgbClr val="0A0A0A"/>
                </a:solidFill>
              </a:rPr>
              <a:t>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Pseudokode, Scratch og Python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Computationel tænkning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Relevans ift undervisning af andre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noProof="0" dirty="0">
                <a:solidFill>
                  <a:srgbClr val="0A0A0A"/>
                </a:solidFill>
              </a:rPr>
              <a:t>Konkrete undervisningsforløb, der kan genbruges efter eventuel tilretning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Tilgang til undervisning TOP DOWN og BOTTOM UP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Applikationsorienteret tilgang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Variation med unplugged programmering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538E94-CB5D-0AD8-D6DF-9F3B49E7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4" y="1362879"/>
            <a:ext cx="3168352" cy="47674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C7D9BC-DB0A-0B3B-15EC-EF25D0AA058F}"/>
              </a:ext>
            </a:extLst>
          </p:cNvPr>
          <p:cNvSpPr/>
          <p:nvPr/>
        </p:nvSpPr>
        <p:spPr bwMode="auto">
          <a:xfrm>
            <a:off x="765820" y="2348880"/>
            <a:ext cx="7128792" cy="316835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36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E3E2-481A-C40A-32A1-F1A1639C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BEA6-886C-FFFB-BF6E-A80E3234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F81ED-6F95-56DA-CBA6-999EF13A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6030A0-03E1-E076-4279-B6D6C426F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8564958" cy="457626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Overordnede ideer</a:t>
            </a:r>
            <a:endParaRPr lang="da-DK" noProof="0" dirty="0">
              <a:solidFill>
                <a:srgbClr val="0A0A0A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b="0" i="0" noProof="0" dirty="0">
                <a:solidFill>
                  <a:srgbClr val="0A0A0A"/>
                </a:solidFill>
                <a:effectLst/>
              </a:rPr>
              <a:t>Generel introduktion til objektorienteret 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Overbygning i forhold til </a:t>
            </a:r>
            <a:r>
              <a:rPr lang="da-DK" sz="1600" i="1" dirty="0">
                <a:solidFill>
                  <a:srgbClr val="0A0A0A"/>
                </a:solidFill>
              </a:rPr>
              <a:t>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Pseudokode, Scratch og Python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Computationel tænkning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Relevans ift undervisning af andre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noProof="0" dirty="0">
                <a:solidFill>
                  <a:srgbClr val="0A0A0A"/>
                </a:solidFill>
              </a:rPr>
              <a:t>Konkrete undervisningsforløb, der kan genbruges efter eventuel tilretning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Tilgang til undervisning TOP DOWN og BOTTOM UP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Applikationsorienteret tilgang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Variation med unplugged programmering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5B58F7-5088-10D1-38A4-E4D02AFF0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4" y="1362879"/>
            <a:ext cx="3168352" cy="47674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A937326-49E8-3565-F980-65DBB67CDFBC}"/>
              </a:ext>
            </a:extLst>
          </p:cNvPr>
          <p:cNvSpPr/>
          <p:nvPr/>
        </p:nvSpPr>
        <p:spPr bwMode="auto">
          <a:xfrm>
            <a:off x="765820" y="2708920"/>
            <a:ext cx="7128792" cy="280831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290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66AD-9AB0-C549-1E8E-6B9D3F95B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8448-570D-04CB-183C-77C76D81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A62A7-5369-8E73-D10D-39098E0B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4D32E7-3151-28D8-8EEF-3C59F8EE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8564958" cy="457626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Overordnede ideer</a:t>
            </a:r>
            <a:endParaRPr lang="da-DK" noProof="0" dirty="0">
              <a:solidFill>
                <a:srgbClr val="0A0A0A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b="0" i="0" noProof="0" dirty="0">
                <a:solidFill>
                  <a:srgbClr val="0A0A0A"/>
                </a:solidFill>
                <a:effectLst/>
              </a:rPr>
              <a:t>Generel introduktion til objektorienteret 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Overbygning i forhold til </a:t>
            </a:r>
            <a:r>
              <a:rPr lang="da-DK" sz="1600" i="1" dirty="0">
                <a:solidFill>
                  <a:srgbClr val="0A0A0A"/>
                </a:solidFill>
              </a:rPr>
              <a:t>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Pseudokode, Scratch og Python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Computationel tænkning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Relevans ift undervisning af andre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noProof="0" dirty="0">
                <a:solidFill>
                  <a:srgbClr val="0A0A0A"/>
                </a:solidFill>
              </a:rPr>
              <a:t>Konkrete undervisningsforløb, der kan genbruges efter eventuel tilretning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Tilgang til undervisning TOP DOWN og BOTTOM UP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Applikationsorienteret tilgang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Variation med unplugged programmering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8445AF-585F-2925-733F-5E9D63FD7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4" y="1362879"/>
            <a:ext cx="3168352" cy="47674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EA47E3E-0153-1F9A-140A-830D18DB1426}"/>
              </a:ext>
            </a:extLst>
          </p:cNvPr>
          <p:cNvSpPr/>
          <p:nvPr/>
        </p:nvSpPr>
        <p:spPr bwMode="auto">
          <a:xfrm>
            <a:off x="765820" y="2996952"/>
            <a:ext cx="7128792" cy="2520280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08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BF6AF-6EC4-39FE-39A9-AAA2C79F5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B805-EECA-894F-63CE-396B71DF3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788DA-35D7-A400-9CB5-C407EBC8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885EE0-040D-8ED3-9FB2-93F7EAFF7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8564958" cy="457626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Overordnede ideer</a:t>
            </a:r>
            <a:endParaRPr lang="da-DK" noProof="0" dirty="0">
              <a:solidFill>
                <a:srgbClr val="0A0A0A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b="0" i="0" noProof="0" dirty="0">
                <a:solidFill>
                  <a:srgbClr val="0A0A0A"/>
                </a:solidFill>
                <a:effectLst/>
              </a:rPr>
              <a:t>Generel introduktion til objektorienteret 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Overbygning i forhold til </a:t>
            </a:r>
            <a:r>
              <a:rPr lang="da-DK" sz="1600" i="1" dirty="0">
                <a:solidFill>
                  <a:srgbClr val="0A0A0A"/>
                </a:solidFill>
              </a:rPr>
              <a:t>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Pseudokode, Scratch og Python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Computationel tænkning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Relevans ift undervisning af andre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noProof="0" dirty="0">
                <a:solidFill>
                  <a:srgbClr val="0A0A0A"/>
                </a:solidFill>
              </a:rPr>
              <a:t>Konkrete undervisningsforløb, der kan genbruges efter eventuel tilretning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Tilgang til undervisning TOP DOWN og BOTTOM UP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Applikationsorienteret tilgang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Variation med unplugged programmering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8E33FE-B15A-F6D1-3465-7DE1A87BC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4" y="1362879"/>
            <a:ext cx="3168352" cy="47674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2905161-097A-4E24-9924-DFFF5AA3EEA3}"/>
              </a:ext>
            </a:extLst>
          </p:cNvPr>
          <p:cNvSpPr/>
          <p:nvPr/>
        </p:nvSpPr>
        <p:spPr bwMode="auto">
          <a:xfrm>
            <a:off x="765820" y="3356992"/>
            <a:ext cx="7128792" cy="2160240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823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C0A97-0631-C369-B55C-2E32A9CC9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529B-7DB3-58B1-A074-163D993A8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E0BC4-BFDF-65FA-179F-29FA349CB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61F9A83-2456-BD03-846E-520E57E6D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8564958" cy="457626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Overordnede ideer</a:t>
            </a:r>
            <a:endParaRPr lang="da-DK" noProof="0" dirty="0">
              <a:solidFill>
                <a:srgbClr val="0A0A0A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b="0" i="0" noProof="0" dirty="0">
                <a:solidFill>
                  <a:srgbClr val="0A0A0A"/>
                </a:solidFill>
                <a:effectLst/>
              </a:rPr>
              <a:t>Generel introduktion til objektorienteret 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Overbygning i forhold til </a:t>
            </a:r>
            <a:r>
              <a:rPr lang="da-DK" sz="1600" i="1" dirty="0">
                <a:solidFill>
                  <a:srgbClr val="0A0A0A"/>
                </a:solidFill>
              </a:rPr>
              <a:t>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Pseudokode, Scratch og Python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Computationel tænkning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Relevans ift undervisning af andre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noProof="0" dirty="0">
                <a:solidFill>
                  <a:srgbClr val="0A0A0A"/>
                </a:solidFill>
              </a:rPr>
              <a:t>Konkrete undervisningsforløb, der kan genbruges efter eventuel tilretning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Tilgang til undervisning TOP DOWN og BOTTOM UP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Applikationsorienteret tilgang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Variation med unplugged programmering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6AEC3A-51A1-BC6C-FA25-0017AF12B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4" y="1362879"/>
            <a:ext cx="3168352" cy="47674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BE34E7-4FB2-5386-CE63-DEE918661C3E}"/>
              </a:ext>
            </a:extLst>
          </p:cNvPr>
          <p:cNvSpPr/>
          <p:nvPr/>
        </p:nvSpPr>
        <p:spPr bwMode="auto">
          <a:xfrm>
            <a:off x="765820" y="3645024"/>
            <a:ext cx="7128792" cy="1872208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010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3FD2E-7C5E-60FB-0229-2AA229103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AD1B5-5E69-1D7A-639B-F55129ED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25EDE-8B7D-D4C2-9EF6-5D664B41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1780AFD-5ADD-1581-1B16-AC89B1643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8564958" cy="457626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Overordnede ideer</a:t>
            </a:r>
            <a:endParaRPr lang="da-DK" noProof="0" dirty="0">
              <a:solidFill>
                <a:srgbClr val="0A0A0A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b="0" i="0" noProof="0" dirty="0">
                <a:solidFill>
                  <a:srgbClr val="0A0A0A"/>
                </a:solidFill>
                <a:effectLst/>
              </a:rPr>
              <a:t>Generel introduktion til objektorienteret 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Overbygning i forhold til </a:t>
            </a:r>
            <a:r>
              <a:rPr lang="da-DK" sz="1600" i="1" dirty="0">
                <a:solidFill>
                  <a:srgbClr val="0A0A0A"/>
                </a:solidFill>
              </a:rPr>
              <a:t>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Pseudokode, Scratch og Python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Computationel tænkning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Relevans ift undervisning af andre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noProof="0" dirty="0">
                <a:solidFill>
                  <a:srgbClr val="0A0A0A"/>
                </a:solidFill>
              </a:rPr>
              <a:t>Konkrete undervisningsforløb, der kan genbruges efter eventuel tilretning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Tilgang til undervisning TOP DOWN og BOTTOM UP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Applikationsorienteret tilgang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Variation med unplugged programmering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51F3F-FE07-5443-94C0-D9ABE41AA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4" y="1362879"/>
            <a:ext cx="3168352" cy="47674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E9869B-AA2F-241E-2968-A0AE08DEAE06}"/>
              </a:ext>
            </a:extLst>
          </p:cNvPr>
          <p:cNvSpPr/>
          <p:nvPr/>
        </p:nvSpPr>
        <p:spPr bwMode="auto">
          <a:xfrm>
            <a:off x="765820" y="4005064"/>
            <a:ext cx="7128792" cy="1584176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748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BE86-DCE5-DB3E-B5DD-1E46AD4C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8257B-8F7B-4E87-2151-0C485401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E3EB6-823C-8DE7-5454-0105AD93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E44AD5-6F83-5B75-B0CC-C3367ADBE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8564958" cy="457626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Overordnede ideer</a:t>
            </a:r>
            <a:endParaRPr lang="da-DK" noProof="0" dirty="0">
              <a:solidFill>
                <a:srgbClr val="0A0A0A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b="0" i="0" noProof="0" dirty="0">
                <a:solidFill>
                  <a:srgbClr val="0A0A0A"/>
                </a:solidFill>
                <a:effectLst/>
              </a:rPr>
              <a:t>Generel introduktion til objektorienteret 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Overbygning i forhold til </a:t>
            </a:r>
            <a:r>
              <a:rPr lang="da-DK" sz="1600" i="1" dirty="0">
                <a:solidFill>
                  <a:srgbClr val="0A0A0A"/>
                </a:solidFill>
              </a:rPr>
              <a:t>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Pseudokode, Scratch og Python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Computationel tænkning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Relevans ift undervisning af andre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noProof="0" dirty="0">
                <a:solidFill>
                  <a:srgbClr val="0A0A0A"/>
                </a:solidFill>
              </a:rPr>
              <a:t>Konkrete undervisningsforløb, der kan genbruges efter eventuel tilretning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Tilgang til undervisning TOP DOWN og BOTTOM UP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Applikationsorienteret tilgang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Variation med unplugged programmering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D67952-2BE5-2A1C-D4BA-046E1C85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4" y="1362879"/>
            <a:ext cx="3168352" cy="47674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5F6CF4-E988-D36C-2366-41FA460D21F1}"/>
              </a:ext>
            </a:extLst>
          </p:cNvPr>
          <p:cNvSpPr/>
          <p:nvPr/>
        </p:nvSpPr>
        <p:spPr bwMode="auto">
          <a:xfrm>
            <a:off x="765820" y="4293096"/>
            <a:ext cx="7128792" cy="1296144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374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5A9CD-78BA-AC95-F48D-6F6528A9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11EA5-788D-0801-89FD-CE7E1EC4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CC4E2-89B2-55A6-FBA9-EC8D80CD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2421FCD-97E3-F2DD-99FD-F34B06D00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8564958" cy="457626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Overordnede ideer</a:t>
            </a:r>
            <a:endParaRPr lang="da-DK" noProof="0" dirty="0">
              <a:solidFill>
                <a:srgbClr val="0A0A0A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b="0" i="0" noProof="0" dirty="0">
                <a:solidFill>
                  <a:srgbClr val="0A0A0A"/>
                </a:solidFill>
                <a:effectLst/>
              </a:rPr>
              <a:t>Generel introduktion til objektorienteret 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Overbygning i forhold til </a:t>
            </a:r>
            <a:r>
              <a:rPr lang="da-DK" sz="1600" i="1" dirty="0">
                <a:solidFill>
                  <a:srgbClr val="0A0A0A"/>
                </a:solidFill>
              </a:rPr>
              <a:t>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Pseudokode, Scratch og Python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Computationel tænkning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Relevans ift undervisning af andre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noProof="0" dirty="0">
                <a:solidFill>
                  <a:srgbClr val="0A0A0A"/>
                </a:solidFill>
              </a:rPr>
              <a:t>Konkrete undervisningsforløb, der kan genbruges efter eventuel tilretning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Tilgang til undervisning TOP DOWN og BOTTOM UP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Applikationsorienteret tilgang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Variation med unplugged programmering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12BADB-005A-F177-1FCD-6B893D6C8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4" y="1362879"/>
            <a:ext cx="3168352" cy="47674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D57B91-CF91-DE65-9C99-55F1A6171140}"/>
              </a:ext>
            </a:extLst>
          </p:cNvPr>
          <p:cNvSpPr/>
          <p:nvPr/>
        </p:nvSpPr>
        <p:spPr bwMode="auto">
          <a:xfrm>
            <a:off x="765820" y="4581128"/>
            <a:ext cx="7128792" cy="100811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03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23F9-C31C-88C2-3CD4-A0E64F768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9A78-E6D3-DBF4-80AD-E86255F5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b="0" dirty="0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1D683-3D87-910F-36AB-E4A4C5405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43760-74A1-544D-9E30-4B574ABC808D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DC2BC4F-5916-62B4-C3CB-7EEA7CC09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373021"/>
            <a:ext cx="8564958" cy="457626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Overordnede ideer</a:t>
            </a:r>
            <a:endParaRPr lang="da-DK" noProof="0" dirty="0">
              <a:solidFill>
                <a:srgbClr val="0A0A0A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b="0" i="0" noProof="0" dirty="0">
                <a:solidFill>
                  <a:srgbClr val="0A0A0A"/>
                </a:solidFill>
                <a:effectLst/>
              </a:rPr>
              <a:t>Generel introduktion til objektorienteret 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Overbygning i forhold til </a:t>
            </a:r>
            <a:r>
              <a:rPr lang="da-DK" sz="1600" i="1" dirty="0">
                <a:solidFill>
                  <a:srgbClr val="0A0A0A"/>
                </a:solidFill>
              </a:rPr>
              <a:t>Programmering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Pseudokode, Scratch og Python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Computationel tænkning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Relevans ift undervisning af andre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noProof="0" dirty="0">
                <a:solidFill>
                  <a:srgbClr val="0A0A0A"/>
                </a:solidFill>
              </a:rPr>
              <a:t>Konkrete undervisningsforløb, der kan genbruges efter eventuel tilretning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Tilgang til undervisning TOP DOWN og BOTTOM UP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Applikationsorienteret tilgang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solidFill>
                  <a:srgbClr val="0A0A0A"/>
                </a:solidFill>
              </a:rPr>
              <a:t>Variation med unplugged programmering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F5075A-7663-0336-87FF-922813730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644" y="1362879"/>
            <a:ext cx="3168352" cy="476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0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C0CCA-B9C0-BCB5-C8A3-2A1365744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5DDD9-C516-3252-11E0-7C59C24C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3D36-C7AF-F54B-9282-C02A855227E2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0178E0-0D4E-F1B4-FFCC-B426CAF5B450}"/>
              </a:ext>
            </a:extLst>
          </p:cNvPr>
          <p:cNvSpPr txBox="1">
            <a:spLocks noGrp="1"/>
          </p:cNvSpPr>
          <p:nvPr>
            <p:ph idx="1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Calibri" panose="020F0502020204030204" pitchFamily="34" charset="0"/>
              <a:buNone/>
            </a:pPr>
            <a:endParaRPr lang="da-DK" sz="16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r>
              <a:rPr lang="da-DK" sz="1600" kern="0" dirty="0">
                <a:solidFill>
                  <a:srgbClr val="0A0A0A"/>
                </a:solidFill>
              </a:rPr>
              <a:t>29. januar – fysisk				19. marts – fysisk</a:t>
            </a:r>
          </a:p>
          <a:p>
            <a:pPr>
              <a:buFont typeface="Calibri" panose="020F0502020204030204" pitchFamily="34" charset="0"/>
              <a:buNone/>
            </a:pPr>
            <a:r>
              <a:rPr lang="da-DK" sz="1600" dirty="0">
                <a:solidFill>
                  <a:srgbClr val="0A0A0A"/>
                </a:solidFill>
              </a:rPr>
              <a:t>5.</a:t>
            </a:r>
            <a:r>
              <a:rPr lang="da-DK" sz="1600" kern="0" dirty="0">
                <a:solidFill>
                  <a:srgbClr val="0A0A0A"/>
                </a:solidFill>
              </a:rPr>
              <a:t> februar – online				26. marts – online</a:t>
            </a:r>
          </a:p>
          <a:p>
            <a:pPr>
              <a:buFont typeface="Calibri" panose="020F0502020204030204" pitchFamily="34" charset="0"/>
              <a:buNone/>
            </a:pPr>
            <a:r>
              <a:rPr lang="da-DK" sz="1600" kern="0" dirty="0">
                <a:solidFill>
                  <a:srgbClr val="0A0A0A"/>
                </a:solidFill>
              </a:rPr>
              <a:t>19. februar – online				9. april – online</a:t>
            </a:r>
          </a:p>
          <a:p>
            <a:pPr>
              <a:buFont typeface="Calibri" panose="020F0502020204030204" pitchFamily="34" charset="0"/>
              <a:buNone/>
            </a:pPr>
            <a:endParaRPr lang="da-DK" sz="16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endParaRPr lang="da-DK" sz="16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r>
              <a:rPr lang="da-DK" sz="1600" kern="0" dirty="0">
                <a:solidFill>
                  <a:srgbClr val="0A0A0A"/>
                </a:solidFill>
              </a:rPr>
              <a:t>26. februar – fysisk				16. april – fysisk</a:t>
            </a:r>
          </a:p>
          <a:p>
            <a:pPr>
              <a:buFont typeface="Calibri" panose="020F0502020204030204" pitchFamily="34" charset="0"/>
              <a:buNone/>
            </a:pPr>
            <a:r>
              <a:rPr lang="da-DK" sz="1600" dirty="0">
                <a:solidFill>
                  <a:srgbClr val="0A0A0A"/>
                </a:solidFill>
              </a:rPr>
              <a:t>5</a:t>
            </a:r>
            <a:r>
              <a:rPr lang="da-DK" sz="1600" kern="0" dirty="0">
                <a:solidFill>
                  <a:srgbClr val="0A0A0A"/>
                </a:solidFill>
              </a:rPr>
              <a:t>. marts – online				23. april – online</a:t>
            </a:r>
          </a:p>
          <a:p>
            <a:pPr>
              <a:buFont typeface="Calibri" panose="020F0502020204030204" pitchFamily="34" charset="0"/>
              <a:buNone/>
            </a:pPr>
            <a:r>
              <a:rPr lang="da-DK" sz="1600" kern="0" dirty="0">
                <a:solidFill>
                  <a:srgbClr val="0A0A0A"/>
                </a:solidFill>
              </a:rPr>
              <a:t>12. marts – online</a:t>
            </a:r>
          </a:p>
          <a:p>
            <a:pPr>
              <a:buFont typeface="Calibri" panose="020F0502020204030204" pitchFamily="34" charset="0"/>
              <a:buNone/>
            </a:pPr>
            <a:r>
              <a:rPr lang="da-DK" sz="1600" kern="0" dirty="0">
                <a:solidFill>
                  <a:srgbClr val="0A0A0A"/>
                </a:solidFill>
              </a:rPr>
              <a:t>			</a:t>
            </a:r>
          </a:p>
          <a:p>
            <a:pPr>
              <a:buFont typeface="Calibri" panose="020F0502020204030204" pitchFamily="34" charset="0"/>
              <a:buNone/>
            </a:pPr>
            <a:r>
              <a:rPr lang="da-DK" sz="1600" kern="0" dirty="0">
                <a:solidFill>
                  <a:srgbClr val="0A0A0A"/>
                </a:solidFill>
              </a:rPr>
              <a:t>					Eksamen 6. og 7. maj – fysisk</a:t>
            </a:r>
          </a:p>
          <a:p>
            <a:pPr>
              <a:buFont typeface="Calibri" panose="020F0502020204030204" pitchFamily="34" charset="0"/>
              <a:buNone/>
            </a:pPr>
            <a:endParaRPr lang="da-DK" sz="16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endParaRPr lang="da-DK" sz="16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endParaRPr lang="da-DK" sz="16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endParaRPr lang="da-DK" sz="1600" kern="0" dirty="0">
              <a:solidFill>
                <a:srgbClr val="0A0A0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571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1A290-FC7C-6210-D729-92309DCC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37E9-C9CA-CF03-A946-D54365AA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DA74-2EBE-F1F7-6B2E-39DE1049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3D36-C7AF-F54B-9282-C02A855227E2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80DC214-7521-54B3-34E9-2F49E2E46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886075" cy="4576260"/>
          </a:xfrm>
        </p:spPr>
        <p:txBody>
          <a:bodyPr/>
          <a:lstStyle/>
          <a:p>
            <a:pPr>
              <a:buNone/>
            </a:pPr>
            <a:r>
              <a:rPr lang="da-DK" sz="1800" b="0" i="0" noProof="0" dirty="0">
                <a:solidFill>
                  <a:srgbClr val="002546"/>
                </a:solidFill>
                <a:effectLst/>
              </a:rPr>
              <a:t>Fysiske møder</a:t>
            </a:r>
          </a:p>
          <a:p>
            <a:pPr>
              <a:buNone/>
            </a:pPr>
            <a:endParaRPr lang="da-DK" noProof="0" dirty="0">
              <a:solidFill>
                <a:srgbClr val="002546"/>
              </a:solidFill>
            </a:endParaRPr>
          </a:p>
          <a:p>
            <a:pPr>
              <a:buNone/>
            </a:pPr>
            <a:endParaRPr lang="da-DK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endParaRPr lang="da-DK" noProof="0" dirty="0">
              <a:solidFill>
                <a:srgbClr val="002546"/>
              </a:solidFill>
            </a:endParaRPr>
          </a:p>
          <a:p>
            <a:pPr>
              <a:buNone/>
            </a:pPr>
            <a:endParaRPr lang="da-DK" noProof="0" dirty="0">
              <a:solidFill>
                <a:srgbClr val="002546"/>
              </a:solidFill>
            </a:endParaRPr>
          </a:p>
          <a:p>
            <a:pPr>
              <a:buNone/>
            </a:pPr>
            <a:endParaRPr lang="da-DK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endParaRPr lang="da-DK" noProof="0" dirty="0">
              <a:solidFill>
                <a:srgbClr val="002546"/>
              </a:solidFill>
            </a:endParaRPr>
          </a:p>
          <a:p>
            <a:pPr>
              <a:buNone/>
            </a:pPr>
            <a:endParaRPr lang="da-DK" noProof="0" dirty="0">
              <a:solidFill>
                <a:srgbClr val="002546"/>
              </a:solidFill>
            </a:endParaRPr>
          </a:p>
          <a:p>
            <a:pPr>
              <a:buNone/>
            </a:pPr>
            <a:endParaRPr lang="da-DK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endParaRPr lang="da-DK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da-DK" sz="1800" noProof="0" dirty="0">
                <a:solidFill>
                  <a:srgbClr val="002546"/>
                </a:solidFill>
              </a:rPr>
              <a:t>Online møder</a:t>
            </a:r>
            <a:r>
              <a:rPr lang="en-GB" sz="1600" dirty="0">
                <a:solidFill>
                  <a:srgbClr val="0A0A0A"/>
                </a:solidFill>
              </a:rPr>
              <a:t>	          </a:t>
            </a:r>
            <a:endParaRPr lang="en-GB" sz="1600" b="0" i="0" dirty="0">
              <a:solidFill>
                <a:srgbClr val="0A0A0A"/>
              </a:solidFill>
              <a:effectLst/>
            </a:endParaRPr>
          </a:p>
          <a:p>
            <a:pPr>
              <a:buNone/>
            </a:pPr>
            <a:endParaRPr lang="en-GB" sz="1600" b="0" i="0" dirty="0">
              <a:solidFill>
                <a:srgbClr val="0A0A0A"/>
              </a:solidFill>
              <a:effectLst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3884328-DE03-A945-4E80-6D1A65BF3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546772"/>
              </p:ext>
            </p:extLst>
          </p:nvPr>
        </p:nvGraphicFramePr>
        <p:xfrm>
          <a:off x="3286100" y="980728"/>
          <a:ext cx="662473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610">
                  <a:extLst>
                    <a:ext uri="{9D8B030D-6E8A-4147-A177-3AD203B41FA5}">
                      <a16:colId xmlns:a16="http://schemas.microsoft.com/office/drawing/2014/main" val="3344425087"/>
                    </a:ext>
                  </a:extLst>
                </a:gridCol>
                <a:gridCol w="5073126">
                  <a:extLst>
                    <a:ext uri="{9D8B030D-6E8A-4147-A177-3AD203B41FA5}">
                      <a16:colId xmlns:a16="http://schemas.microsoft.com/office/drawing/2014/main" val="2380180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K" sz="1600" b="0"/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b="0"/>
                        <a:t>Indhold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527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9:00 – 9:30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Kaffe, morgenbrød og opsamling fra sidst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22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9:30 – 10:45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Oplæg, gruppearbejde og vejledning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599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10:45 – 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Pause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162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11:00 – 12:15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Oplæg, gruppearbejde og vejledning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121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12:15 – 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Frokost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8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13:00 – 14:15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Oplæg, gruppearbejde og vejledning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227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14:15 – 14:30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Pause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617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 dirty="0"/>
                        <a:t>14:30 – 15:45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Oplæg, gruppearbejde og vejledning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310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15:45 – 16:00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Afrunding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04034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99AA9C8-6635-9A6F-AB95-17AFDB8EC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023320"/>
              </p:ext>
            </p:extLst>
          </p:nvPr>
        </p:nvGraphicFramePr>
        <p:xfrm>
          <a:off x="3286100" y="4721381"/>
          <a:ext cx="66247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610">
                  <a:extLst>
                    <a:ext uri="{9D8B030D-6E8A-4147-A177-3AD203B41FA5}">
                      <a16:colId xmlns:a16="http://schemas.microsoft.com/office/drawing/2014/main" val="3344425087"/>
                    </a:ext>
                  </a:extLst>
                </a:gridCol>
                <a:gridCol w="5073126">
                  <a:extLst>
                    <a:ext uri="{9D8B030D-6E8A-4147-A177-3AD203B41FA5}">
                      <a16:colId xmlns:a16="http://schemas.microsoft.com/office/drawing/2014/main" val="2380180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K" sz="1600" b="0"/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b="0"/>
                        <a:t>Indhold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527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15:00 – 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Forslag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224419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3CC3532F-450F-CB9E-63BF-9AEA2727FED1}"/>
              </a:ext>
            </a:extLst>
          </p:cNvPr>
          <p:cNvSpPr/>
          <p:nvPr/>
        </p:nvSpPr>
        <p:spPr bwMode="auto">
          <a:xfrm>
            <a:off x="3214092" y="931630"/>
            <a:ext cx="6840760" cy="458234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DK" sz="16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7AC286-34DF-65D9-7766-6E67B5D747B0}"/>
              </a:ext>
            </a:extLst>
          </p:cNvPr>
          <p:cNvSpPr/>
          <p:nvPr/>
        </p:nvSpPr>
        <p:spPr bwMode="auto">
          <a:xfrm>
            <a:off x="3178088" y="4717960"/>
            <a:ext cx="6840760" cy="377877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DK" sz="16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D82352-936D-8855-8D99-CED9F9EDD66E}"/>
              </a:ext>
            </a:extLst>
          </p:cNvPr>
          <p:cNvSpPr/>
          <p:nvPr/>
        </p:nvSpPr>
        <p:spPr bwMode="auto">
          <a:xfrm>
            <a:off x="693812" y="5013176"/>
            <a:ext cx="9649072" cy="913194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224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49B6E-E772-093D-3690-A09D90CF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CDB26-6ECA-B6D2-308A-BD1F210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E489E-3727-8EAA-AF8F-63B355BB2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43D36-C7AF-F54B-9282-C02A855227E2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642A62-C4E0-8423-90D1-0A4A87BCD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886075" cy="4576260"/>
          </a:xfrm>
        </p:spPr>
        <p:txBody>
          <a:bodyPr/>
          <a:lstStyle/>
          <a:p>
            <a:pPr>
              <a:buNone/>
            </a:pPr>
            <a:r>
              <a:rPr lang="da-DK" sz="1800" b="0" i="0" noProof="0" dirty="0">
                <a:solidFill>
                  <a:srgbClr val="002546"/>
                </a:solidFill>
                <a:effectLst/>
              </a:rPr>
              <a:t>Fysiske møder</a:t>
            </a:r>
          </a:p>
          <a:p>
            <a:pPr>
              <a:buNone/>
            </a:pPr>
            <a:endParaRPr lang="da-DK" noProof="0" dirty="0">
              <a:solidFill>
                <a:srgbClr val="002546"/>
              </a:solidFill>
            </a:endParaRPr>
          </a:p>
          <a:p>
            <a:pPr>
              <a:buNone/>
            </a:pPr>
            <a:endParaRPr lang="da-DK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endParaRPr lang="da-DK" noProof="0" dirty="0">
              <a:solidFill>
                <a:srgbClr val="002546"/>
              </a:solidFill>
            </a:endParaRPr>
          </a:p>
          <a:p>
            <a:pPr>
              <a:buNone/>
            </a:pPr>
            <a:endParaRPr lang="da-DK" noProof="0" dirty="0">
              <a:solidFill>
                <a:srgbClr val="002546"/>
              </a:solidFill>
            </a:endParaRPr>
          </a:p>
          <a:p>
            <a:pPr>
              <a:buNone/>
            </a:pPr>
            <a:endParaRPr lang="da-DK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endParaRPr lang="da-DK" noProof="0" dirty="0">
              <a:solidFill>
                <a:srgbClr val="002546"/>
              </a:solidFill>
            </a:endParaRPr>
          </a:p>
          <a:p>
            <a:pPr>
              <a:buNone/>
            </a:pPr>
            <a:endParaRPr lang="da-DK" noProof="0" dirty="0">
              <a:solidFill>
                <a:srgbClr val="002546"/>
              </a:solidFill>
            </a:endParaRPr>
          </a:p>
          <a:p>
            <a:pPr>
              <a:buNone/>
            </a:pPr>
            <a:endParaRPr lang="da-DK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endParaRPr lang="da-DK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da-DK" sz="1800" noProof="0" dirty="0">
                <a:solidFill>
                  <a:srgbClr val="002546"/>
                </a:solidFill>
              </a:rPr>
              <a:t>Online møder</a:t>
            </a:r>
            <a:r>
              <a:rPr lang="en-GB" sz="1600" dirty="0">
                <a:solidFill>
                  <a:srgbClr val="0A0A0A"/>
                </a:solidFill>
              </a:rPr>
              <a:t>	          </a:t>
            </a:r>
            <a:endParaRPr lang="en-GB" sz="1600" b="0" i="0" dirty="0">
              <a:solidFill>
                <a:srgbClr val="0A0A0A"/>
              </a:solidFill>
              <a:effectLst/>
            </a:endParaRPr>
          </a:p>
          <a:p>
            <a:pPr>
              <a:buNone/>
            </a:pPr>
            <a:endParaRPr lang="en-GB" sz="1600" b="0" i="0" dirty="0">
              <a:solidFill>
                <a:srgbClr val="0A0A0A"/>
              </a:solidFill>
              <a:effectLst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2092479-AFC4-D25D-7EE5-6BBEFD027823}"/>
              </a:ext>
            </a:extLst>
          </p:cNvPr>
          <p:cNvGraphicFramePr>
            <a:graphicFrameLocks noGrp="1"/>
          </p:cNvGraphicFramePr>
          <p:nvPr/>
        </p:nvGraphicFramePr>
        <p:xfrm>
          <a:off x="3286100" y="980728"/>
          <a:ext cx="662473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610">
                  <a:extLst>
                    <a:ext uri="{9D8B030D-6E8A-4147-A177-3AD203B41FA5}">
                      <a16:colId xmlns:a16="http://schemas.microsoft.com/office/drawing/2014/main" val="3344425087"/>
                    </a:ext>
                  </a:extLst>
                </a:gridCol>
                <a:gridCol w="5073126">
                  <a:extLst>
                    <a:ext uri="{9D8B030D-6E8A-4147-A177-3AD203B41FA5}">
                      <a16:colId xmlns:a16="http://schemas.microsoft.com/office/drawing/2014/main" val="2380180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K" sz="1600" b="0"/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b="0"/>
                        <a:t>Indhold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527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9:00 – 9:30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Kaffe, morgenbrød og opsamling fra sidst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422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9:30 – 10:45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Oplæg, gruppearbejde og vejledning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599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10:45 – 11:00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Pause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162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11:00 – 12:15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Oplæg, gruppearbejde og vejledning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121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12:15 – 13:00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Frokost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8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13:00 – 14:15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Oplæg, gruppearbejde og vejledning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227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14:15 – 14:30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Pause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617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 dirty="0"/>
                        <a:t>14:30 – 15:45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Oplæg, gruppearbejde og vejledning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310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15:45 – 16:00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Afrunding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04034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F77EEA-FD6E-2D99-4257-1761201F07D7}"/>
              </a:ext>
            </a:extLst>
          </p:cNvPr>
          <p:cNvGraphicFramePr>
            <a:graphicFrameLocks noGrp="1"/>
          </p:cNvGraphicFramePr>
          <p:nvPr/>
        </p:nvGraphicFramePr>
        <p:xfrm>
          <a:off x="3286100" y="4721381"/>
          <a:ext cx="662473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1610">
                  <a:extLst>
                    <a:ext uri="{9D8B030D-6E8A-4147-A177-3AD203B41FA5}">
                      <a16:colId xmlns:a16="http://schemas.microsoft.com/office/drawing/2014/main" val="3344425087"/>
                    </a:ext>
                  </a:extLst>
                </a:gridCol>
                <a:gridCol w="5073126">
                  <a:extLst>
                    <a:ext uri="{9D8B030D-6E8A-4147-A177-3AD203B41FA5}">
                      <a16:colId xmlns:a16="http://schemas.microsoft.com/office/drawing/2014/main" val="2380180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DK" sz="1600" b="0"/>
                        <a:t>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b="0"/>
                        <a:t>Indhold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527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K" sz="1600"/>
                        <a:t>15:00 – 17:00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K" sz="1600" dirty="0"/>
                        <a:t>Forslag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224419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901347C3-2C20-4F1C-2348-EEB64480400B}"/>
              </a:ext>
            </a:extLst>
          </p:cNvPr>
          <p:cNvSpPr/>
          <p:nvPr/>
        </p:nvSpPr>
        <p:spPr bwMode="auto">
          <a:xfrm>
            <a:off x="3214092" y="931630"/>
            <a:ext cx="6840760" cy="458234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DK" sz="16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634A56-9E94-DFFC-4CA8-C1777E954957}"/>
              </a:ext>
            </a:extLst>
          </p:cNvPr>
          <p:cNvSpPr/>
          <p:nvPr/>
        </p:nvSpPr>
        <p:spPr bwMode="auto">
          <a:xfrm>
            <a:off x="3178088" y="4717960"/>
            <a:ext cx="6840760" cy="377877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DK" sz="1600" b="0" i="0" u="none" strike="noStrike" cap="none" normalizeH="0" baseline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614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1B898-6E23-9AA1-A403-132BBA11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22A9B-B15D-8475-91BF-6941CE6BD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92529-D7CE-FF36-7C77-AAFDA6075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3D38-98E6-A84E-A4CB-7A471696AB35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33F6FAD-4388-266F-7209-E372E0E3A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/>
          <a:p>
            <a:pPr>
              <a:buNone/>
            </a:pPr>
            <a:r>
              <a:rPr lang="da-DK" sz="1600" noProof="0" dirty="0">
                <a:solidFill>
                  <a:srgbClr val="002546"/>
                </a:solidFill>
              </a:rPr>
              <a:t>Gruppearbejde</a:t>
            </a:r>
          </a:p>
          <a:p>
            <a:pPr marL="285750" indent="-285750"/>
            <a:r>
              <a:rPr lang="da-DK" sz="1600" b="0" i="0" noProof="0" dirty="0">
                <a:solidFill>
                  <a:srgbClr val="002546"/>
                </a:solidFill>
                <a:effectLst/>
              </a:rPr>
              <a:t>Grupper på 2 – 4 </a:t>
            </a:r>
          </a:p>
          <a:p>
            <a:pPr>
              <a:buNone/>
            </a:pPr>
            <a:endParaRPr lang="da-DK" sz="1600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da-DK" sz="1600" b="0" i="0" noProof="0" dirty="0">
                <a:solidFill>
                  <a:srgbClr val="002546"/>
                </a:solidFill>
                <a:effectLst/>
              </a:rPr>
              <a:t>Afleveringsopgaver</a:t>
            </a:r>
          </a:p>
          <a:p>
            <a:pPr marL="285750" indent="-285750"/>
            <a:r>
              <a:rPr lang="da-DK" sz="1600" noProof="0" dirty="0">
                <a:solidFill>
                  <a:srgbClr val="002546"/>
                </a:solidFill>
              </a:rPr>
              <a:t>Introduceres ved det fysiske møde</a:t>
            </a:r>
          </a:p>
          <a:p>
            <a:pPr marL="285750" indent="-285750"/>
            <a:r>
              <a:rPr lang="da-DK" sz="1600" dirty="0">
                <a:solidFill>
                  <a:srgbClr val="002546"/>
                </a:solidFill>
              </a:rPr>
              <a:t>Afleveres </a:t>
            </a:r>
            <a:r>
              <a:rPr lang="da-DK" sz="1600" b="0" i="0" noProof="0" dirty="0">
                <a:solidFill>
                  <a:srgbClr val="002546"/>
                </a:solidFill>
                <a:effectLst/>
              </a:rPr>
              <a:t>ved online møde</a:t>
            </a:r>
          </a:p>
          <a:p>
            <a:pPr marL="285750" indent="-285750"/>
            <a:endParaRPr lang="da-DK" sz="1600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da-DK" sz="1600" noProof="0" dirty="0">
                <a:solidFill>
                  <a:srgbClr val="002546"/>
                </a:solidFill>
              </a:rPr>
              <a:t>Materiale</a:t>
            </a:r>
          </a:p>
          <a:p>
            <a:pPr marL="285750" indent="-285750"/>
            <a:r>
              <a:rPr lang="da-DK" sz="1600" b="0" i="0" noProof="0" dirty="0">
                <a:solidFill>
                  <a:srgbClr val="002546"/>
                </a:solidFill>
                <a:effectLst/>
              </a:rPr>
              <a:t>Slides og d</a:t>
            </a:r>
            <a:r>
              <a:rPr lang="da-DK" sz="1600" noProof="0" dirty="0">
                <a:solidFill>
                  <a:srgbClr val="002546"/>
                </a:solidFill>
              </a:rPr>
              <a:t>igitalt materiale</a:t>
            </a:r>
          </a:p>
          <a:p>
            <a:pPr marL="285750" indent="-285750"/>
            <a:endParaRPr lang="en-GB" sz="1600" dirty="0">
              <a:solidFill>
                <a:srgbClr val="002546"/>
              </a:solidFill>
            </a:endParaRPr>
          </a:p>
          <a:p>
            <a:pPr>
              <a:buNone/>
            </a:pPr>
            <a:r>
              <a:rPr lang="en-GB" sz="1600" b="0" i="0" dirty="0">
                <a:solidFill>
                  <a:srgbClr val="002546"/>
                </a:solidFill>
                <a:effectLst/>
              </a:rPr>
              <a:t>Brightspace</a:t>
            </a:r>
          </a:p>
          <a:p>
            <a:pPr>
              <a:buNone/>
            </a:pPr>
            <a:endParaRPr lang="en-GB" sz="1600" b="0" i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en-GB" sz="1600" dirty="0">
                <a:solidFill>
                  <a:srgbClr val="002546"/>
                </a:solidFill>
              </a:rPr>
              <a:t>Mail</a:t>
            </a:r>
            <a:endParaRPr lang="en-GB" sz="1600" b="0" i="0" dirty="0">
              <a:solidFill>
                <a:srgbClr val="002546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E3CF72-04E0-181F-770E-AB3800B9762D}"/>
              </a:ext>
            </a:extLst>
          </p:cNvPr>
          <p:cNvSpPr/>
          <p:nvPr/>
        </p:nvSpPr>
        <p:spPr bwMode="auto">
          <a:xfrm>
            <a:off x="189756" y="2132856"/>
            <a:ext cx="8064896" cy="3318176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8DF2CC-F8E2-DCF0-8F3C-0EFDF60CC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934" y="1388907"/>
            <a:ext cx="5428155" cy="361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51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5613-1F9C-E031-FE96-C8EC44A1D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45E16-C11E-685B-C5FB-EB03607C9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3D38-98E6-A84E-A4CB-7A471696AB35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DD8D95A-A937-6E2A-9764-FAECA0B1E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/>
          <a:p>
            <a:pPr>
              <a:buNone/>
            </a:pPr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Gruppearbejde</a:t>
            </a:r>
          </a:p>
          <a:p>
            <a:pPr marL="285750" indent="-285750"/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Grupper på 2 – 4 </a:t>
            </a:r>
          </a:p>
          <a:p>
            <a:pPr>
              <a:buNone/>
            </a:pPr>
            <a:endParaRPr lang="da-DK" sz="1600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da-DK" sz="1600" b="0" i="0" noProof="0" dirty="0">
                <a:solidFill>
                  <a:srgbClr val="002546"/>
                </a:solidFill>
                <a:effectLst/>
              </a:rPr>
              <a:t>Afleveringsopgaver</a:t>
            </a:r>
          </a:p>
          <a:p>
            <a:pPr marL="285750" indent="-285750"/>
            <a:r>
              <a:rPr lang="da-DK" sz="1600" noProof="0" dirty="0">
                <a:solidFill>
                  <a:srgbClr val="002546"/>
                </a:solidFill>
              </a:rPr>
              <a:t>Introduceres ved det fysiske møde</a:t>
            </a:r>
          </a:p>
          <a:p>
            <a:pPr marL="285750" indent="-285750"/>
            <a:r>
              <a:rPr lang="da-DK" sz="1600" noProof="0" dirty="0">
                <a:solidFill>
                  <a:srgbClr val="002546"/>
                </a:solidFill>
              </a:rPr>
              <a:t>Gruppeaflevering</a:t>
            </a:r>
          </a:p>
          <a:p>
            <a:pPr marL="285750" indent="-285750"/>
            <a:r>
              <a:rPr lang="da-DK" sz="1600" dirty="0">
                <a:solidFill>
                  <a:srgbClr val="002546"/>
                </a:solidFill>
              </a:rPr>
              <a:t>Afleveres </a:t>
            </a:r>
            <a:r>
              <a:rPr lang="da-DK" sz="1600" b="0" i="0" noProof="0" dirty="0">
                <a:solidFill>
                  <a:srgbClr val="002546"/>
                </a:solidFill>
                <a:effectLst/>
              </a:rPr>
              <a:t>ved online møde</a:t>
            </a:r>
          </a:p>
          <a:p>
            <a:pPr marL="285750" indent="-285750"/>
            <a:endParaRPr lang="da-DK" sz="1600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da-DK" sz="1600" noProof="0" dirty="0">
                <a:solidFill>
                  <a:srgbClr val="002546"/>
                </a:solidFill>
              </a:rPr>
              <a:t>Materiale</a:t>
            </a:r>
          </a:p>
          <a:p>
            <a:pPr marL="285750" indent="-285750"/>
            <a:r>
              <a:rPr lang="da-DK" sz="1600" b="0" i="0" noProof="0" dirty="0">
                <a:solidFill>
                  <a:srgbClr val="002546"/>
                </a:solidFill>
                <a:effectLst/>
              </a:rPr>
              <a:t>Slides og d</a:t>
            </a:r>
            <a:r>
              <a:rPr lang="da-DK" sz="1600" noProof="0" dirty="0">
                <a:solidFill>
                  <a:srgbClr val="002546"/>
                </a:solidFill>
              </a:rPr>
              <a:t>igitalt materiale</a:t>
            </a:r>
          </a:p>
          <a:p>
            <a:pPr marL="285750" indent="-285750"/>
            <a:endParaRPr lang="en-GB" sz="1600" dirty="0">
              <a:solidFill>
                <a:srgbClr val="002546"/>
              </a:solidFill>
            </a:endParaRPr>
          </a:p>
          <a:p>
            <a:pPr>
              <a:buNone/>
            </a:pPr>
            <a:r>
              <a:rPr lang="en-GB" sz="1600" b="0" i="0" dirty="0">
                <a:solidFill>
                  <a:srgbClr val="002546"/>
                </a:solidFill>
                <a:effectLst/>
              </a:rPr>
              <a:t>Brightspace</a:t>
            </a:r>
          </a:p>
          <a:p>
            <a:pPr>
              <a:buNone/>
            </a:pPr>
            <a:endParaRPr lang="en-GB" sz="1600" b="0" i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en-GB" sz="1600" dirty="0">
                <a:solidFill>
                  <a:srgbClr val="002546"/>
                </a:solidFill>
              </a:rPr>
              <a:t>Mail</a:t>
            </a:r>
            <a:endParaRPr lang="en-GB" sz="1600" b="0" i="0" dirty="0">
              <a:solidFill>
                <a:srgbClr val="002546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2E6EF2-0196-0F7C-F96F-4F3F70023586}"/>
              </a:ext>
            </a:extLst>
          </p:cNvPr>
          <p:cNvSpPr/>
          <p:nvPr/>
        </p:nvSpPr>
        <p:spPr bwMode="auto">
          <a:xfrm>
            <a:off x="189756" y="3783232"/>
            <a:ext cx="8064896" cy="202203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8A450C-C331-05E4-F699-0D8E4685C148}"/>
              </a:ext>
            </a:extLst>
          </p:cNvPr>
          <p:cNvSpPr txBox="1">
            <a:spLocks/>
          </p:cNvSpPr>
          <p:nvPr/>
        </p:nvSpPr>
        <p:spPr bwMode="auto">
          <a:xfrm>
            <a:off x="5664311" y="2353686"/>
            <a:ext cx="5038613" cy="193941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108000" tIns="108000" rIns="108000" bIns="10800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Calibri" panose="020F0502020204030204" pitchFamily="34" charset="0"/>
              <a:buNone/>
            </a:pPr>
            <a:r>
              <a:rPr lang="da-DK" sz="1200" kern="0" dirty="0">
                <a:solidFill>
                  <a:srgbClr val="0A0A0A"/>
                </a:solidFill>
              </a:rPr>
              <a:t>29. januar – fysisk		19. marts – fysisk</a:t>
            </a:r>
          </a:p>
          <a:p>
            <a:pPr>
              <a:buNone/>
            </a:pPr>
            <a:r>
              <a:rPr lang="da-DK" sz="1200" kern="0" dirty="0">
                <a:solidFill>
                  <a:srgbClr val="0A0A0A"/>
                </a:solidFill>
              </a:rPr>
              <a:t>5. februar – online </a:t>
            </a:r>
            <a:r>
              <a:rPr lang="da-DK" sz="1200" kern="0" dirty="0">
                <a:solidFill>
                  <a:srgbClr val="FF0000"/>
                </a:solidFill>
              </a:rPr>
              <a:t>– aflevering</a:t>
            </a:r>
            <a:r>
              <a:rPr lang="da-DK" sz="1200" kern="0" dirty="0">
                <a:solidFill>
                  <a:srgbClr val="0A0A0A"/>
                </a:solidFill>
              </a:rPr>
              <a:t>	26. marts – online</a:t>
            </a:r>
            <a:r>
              <a:rPr lang="da-DK" sz="1200" kern="0" dirty="0">
                <a:solidFill>
                  <a:srgbClr val="FF0000"/>
                </a:solidFill>
              </a:rPr>
              <a:t> – aflevering</a:t>
            </a:r>
            <a:endParaRPr lang="da-DK" sz="1200" kern="0" dirty="0">
              <a:solidFill>
                <a:srgbClr val="0A0A0A"/>
              </a:solidFill>
            </a:endParaRPr>
          </a:p>
          <a:p>
            <a:pPr>
              <a:buNone/>
            </a:pPr>
            <a:r>
              <a:rPr lang="da-DK" sz="1200" kern="0" dirty="0">
                <a:solidFill>
                  <a:srgbClr val="0A0A0A"/>
                </a:solidFill>
              </a:rPr>
              <a:t>19. februar – online</a:t>
            </a:r>
            <a:r>
              <a:rPr lang="da-DK" sz="1200" kern="0" dirty="0">
                <a:solidFill>
                  <a:srgbClr val="FF0000"/>
                </a:solidFill>
              </a:rPr>
              <a:t> – aflevering </a:t>
            </a:r>
            <a:r>
              <a:rPr lang="da-DK" sz="1200" kern="0" dirty="0">
                <a:solidFill>
                  <a:srgbClr val="0A0A0A"/>
                </a:solidFill>
              </a:rPr>
              <a:t>	9. april – online</a:t>
            </a:r>
            <a:r>
              <a:rPr lang="da-DK" sz="1200" kern="0" dirty="0">
                <a:solidFill>
                  <a:srgbClr val="FF0000"/>
                </a:solidFill>
              </a:rPr>
              <a:t> – aflevering</a:t>
            </a:r>
            <a:endParaRPr lang="da-DK" sz="12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endParaRPr lang="da-DK" sz="12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r>
              <a:rPr lang="da-DK" sz="1200" kern="0" dirty="0">
                <a:solidFill>
                  <a:srgbClr val="0A0A0A"/>
                </a:solidFill>
              </a:rPr>
              <a:t>26. februar – fysisk		16. april – fysisk</a:t>
            </a:r>
          </a:p>
          <a:p>
            <a:pPr>
              <a:buNone/>
            </a:pPr>
            <a:r>
              <a:rPr lang="da-DK" sz="1200" kern="0" dirty="0">
                <a:solidFill>
                  <a:srgbClr val="0A0A0A"/>
                </a:solidFill>
              </a:rPr>
              <a:t>5. marts – online</a:t>
            </a:r>
            <a:r>
              <a:rPr lang="da-DK" sz="1200" kern="0" dirty="0">
                <a:solidFill>
                  <a:srgbClr val="FF0000"/>
                </a:solidFill>
              </a:rPr>
              <a:t> – aflevering </a:t>
            </a:r>
            <a:r>
              <a:rPr lang="da-DK" sz="1200" kern="0" dirty="0">
                <a:solidFill>
                  <a:srgbClr val="0A0A0A"/>
                </a:solidFill>
              </a:rPr>
              <a:t>	23. april – online</a:t>
            </a:r>
          </a:p>
          <a:p>
            <a:pPr>
              <a:buNone/>
            </a:pPr>
            <a:r>
              <a:rPr lang="da-DK" sz="1200" kern="0" dirty="0">
                <a:solidFill>
                  <a:srgbClr val="0A0A0A"/>
                </a:solidFill>
              </a:rPr>
              <a:t>12. marts – online</a:t>
            </a:r>
            <a:r>
              <a:rPr lang="da-DK" sz="1200" kern="0" dirty="0">
                <a:solidFill>
                  <a:srgbClr val="FF0000"/>
                </a:solidFill>
              </a:rPr>
              <a:t> – aflevering</a:t>
            </a:r>
            <a:endParaRPr lang="da-DK" sz="12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endParaRPr lang="da-DK" sz="12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endParaRPr lang="da-DK" sz="12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endParaRPr lang="da-DK" sz="1200" kern="0" dirty="0">
              <a:solidFill>
                <a:srgbClr val="0A0A0A"/>
              </a:solidFill>
            </a:endParaRPr>
          </a:p>
          <a:p>
            <a:pPr>
              <a:buFont typeface="Calibri" panose="020F0502020204030204" pitchFamily="34" charset="0"/>
              <a:buNone/>
            </a:pPr>
            <a:endParaRPr lang="da-DK" sz="1200" kern="0" dirty="0">
              <a:solidFill>
                <a:srgbClr val="0A0A0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800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B025-E3DB-34E3-124F-718113B23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A887-DB34-772C-D606-F942D49F2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76C48-64F0-24B1-6B75-5C022F3F4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3D38-98E6-A84E-A4CB-7A471696AB35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FB7475-A1E1-BDE0-D31E-C0BBB990F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/>
          <a:p>
            <a:pPr>
              <a:buNone/>
            </a:pPr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Gruppearbejde</a:t>
            </a:r>
          </a:p>
          <a:p>
            <a:pPr marL="285750" indent="-285750"/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Grupper på 2 – 4 </a:t>
            </a:r>
          </a:p>
          <a:p>
            <a:pPr>
              <a:buNone/>
            </a:pPr>
            <a:endParaRPr lang="da-DK" sz="1600" b="0" i="0" noProof="0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pPr>
              <a:buNone/>
            </a:pPr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Afleveringsopgaver</a:t>
            </a:r>
          </a:p>
          <a:p>
            <a:pPr marL="285750" indent="-285750"/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Introduceres ved det fysiske møde</a:t>
            </a:r>
          </a:p>
          <a:p>
            <a:pPr marL="285750" indent="-285750"/>
            <a:r>
              <a:rPr lang="da-DK" sz="1600" dirty="0">
                <a:solidFill>
                  <a:schemeClr val="bg1">
                    <a:lumMod val="50000"/>
                  </a:schemeClr>
                </a:solidFill>
              </a:rPr>
              <a:t>Gruppeaflevering</a:t>
            </a:r>
            <a:endParaRPr lang="da-DK" sz="1600" noProof="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/>
            <a:r>
              <a:rPr lang="da-DK" sz="1600" dirty="0">
                <a:solidFill>
                  <a:schemeClr val="bg1">
                    <a:lumMod val="50000"/>
                  </a:schemeClr>
                </a:solidFill>
              </a:rPr>
              <a:t>Afleveres </a:t>
            </a:r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ved online møde</a:t>
            </a:r>
          </a:p>
          <a:p>
            <a:pPr marL="285750" indent="-285750"/>
            <a:endParaRPr lang="da-DK" sz="1600" b="0" i="0" noProof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da-DK" sz="1600" noProof="0" dirty="0">
                <a:solidFill>
                  <a:srgbClr val="002546"/>
                </a:solidFill>
              </a:rPr>
              <a:t>Materiale</a:t>
            </a:r>
          </a:p>
          <a:p>
            <a:pPr marL="285750" indent="-285750"/>
            <a:r>
              <a:rPr lang="da-DK" sz="1600" b="0" i="0" noProof="0" dirty="0">
                <a:solidFill>
                  <a:srgbClr val="002546"/>
                </a:solidFill>
                <a:effectLst/>
              </a:rPr>
              <a:t>Slides og d</a:t>
            </a:r>
            <a:r>
              <a:rPr lang="da-DK" sz="1600" noProof="0" dirty="0">
                <a:solidFill>
                  <a:srgbClr val="002546"/>
                </a:solidFill>
              </a:rPr>
              <a:t>igitalt materiale</a:t>
            </a:r>
          </a:p>
          <a:p>
            <a:pPr marL="285750" indent="-285750"/>
            <a:endParaRPr lang="en-GB" sz="1600" dirty="0">
              <a:solidFill>
                <a:srgbClr val="002546"/>
              </a:solidFill>
            </a:endParaRPr>
          </a:p>
          <a:p>
            <a:pPr>
              <a:buNone/>
            </a:pPr>
            <a:r>
              <a:rPr lang="en-GB" sz="1600" b="0" i="0" dirty="0">
                <a:solidFill>
                  <a:srgbClr val="002546"/>
                </a:solidFill>
                <a:effectLst/>
              </a:rPr>
              <a:t>Brightspace</a:t>
            </a:r>
          </a:p>
          <a:p>
            <a:pPr>
              <a:buNone/>
            </a:pPr>
            <a:endParaRPr lang="en-GB" sz="1600" b="0" i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en-GB" sz="1600" dirty="0">
                <a:solidFill>
                  <a:srgbClr val="002546"/>
                </a:solidFill>
              </a:rPr>
              <a:t>Mail</a:t>
            </a:r>
            <a:endParaRPr lang="en-GB" sz="1600" b="0" i="0" dirty="0">
              <a:solidFill>
                <a:srgbClr val="002546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254B0-8D8B-E9A5-DB1B-DE765C1CAF7E}"/>
              </a:ext>
            </a:extLst>
          </p:cNvPr>
          <p:cNvSpPr/>
          <p:nvPr/>
        </p:nvSpPr>
        <p:spPr bwMode="auto">
          <a:xfrm>
            <a:off x="189756" y="4791344"/>
            <a:ext cx="8064896" cy="1013920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912988-1099-67CC-B1DA-BBF5590A4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268" y="1152230"/>
            <a:ext cx="6120680" cy="460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403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4C99E-EAFE-AAB4-E84D-015A2B5E0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DD77-7C3F-FA0C-38C7-0A7AB629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7D9EB-1836-B0B7-DE23-B5B4B8BB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3D38-98E6-A84E-A4CB-7A471696AB35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0863CC-3A94-B068-6CBE-98C371C6A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/>
          <a:p>
            <a:pPr>
              <a:buNone/>
            </a:pPr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Gruppearbejde</a:t>
            </a:r>
          </a:p>
          <a:p>
            <a:pPr marL="285750" indent="-285750"/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Grupper på 2 – 4 </a:t>
            </a:r>
          </a:p>
          <a:p>
            <a:pPr>
              <a:buNone/>
            </a:pPr>
            <a:endParaRPr lang="da-DK" sz="1600" b="0" i="0" noProof="0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pPr>
              <a:buNone/>
            </a:pPr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Afleveringsopgaver</a:t>
            </a:r>
          </a:p>
          <a:p>
            <a:pPr marL="285750" indent="-285750"/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Introduceres ved det fysiske møde</a:t>
            </a:r>
          </a:p>
          <a:p>
            <a:pPr marL="285750" indent="-285750"/>
            <a:r>
              <a:rPr lang="da-DK" sz="1600" dirty="0">
                <a:solidFill>
                  <a:schemeClr val="bg1">
                    <a:lumMod val="50000"/>
                  </a:schemeClr>
                </a:solidFill>
              </a:rPr>
              <a:t>Gruppeaflevering</a:t>
            </a:r>
            <a:endParaRPr lang="da-DK" sz="1600" noProof="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/>
            <a:r>
              <a:rPr lang="da-DK" sz="1600" dirty="0">
                <a:solidFill>
                  <a:schemeClr val="bg1">
                    <a:lumMod val="50000"/>
                  </a:schemeClr>
                </a:solidFill>
              </a:rPr>
              <a:t>Afleveres </a:t>
            </a:r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ved online møde</a:t>
            </a:r>
          </a:p>
          <a:p>
            <a:pPr marL="285750" indent="-285750"/>
            <a:endParaRPr lang="da-DK" sz="1600" b="0" i="0" noProof="0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pPr>
              <a:buNone/>
            </a:pPr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Materiale</a:t>
            </a:r>
          </a:p>
          <a:p>
            <a:pPr marL="285750" indent="-285750"/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Slides og d</a:t>
            </a:r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igitalt materiale</a:t>
            </a:r>
          </a:p>
          <a:p>
            <a:pPr marL="285750" indent="-285750"/>
            <a:endParaRPr lang="en-GB" sz="1600" dirty="0">
              <a:solidFill>
                <a:srgbClr val="002546"/>
              </a:solidFill>
            </a:endParaRPr>
          </a:p>
          <a:p>
            <a:pPr>
              <a:buNone/>
            </a:pPr>
            <a:r>
              <a:rPr lang="en-GB" sz="1600" b="0" i="0" dirty="0">
                <a:solidFill>
                  <a:srgbClr val="002546"/>
                </a:solidFill>
                <a:effectLst/>
              </a:rPr>
              <a:t>Brightspace</a:t>
            </a:r>
          </a:p>
          <a:p>
            <a:pPr>
              <a:buNone/>
            </a:pPr>
            <a:endParaRPr lang="en-GB" sz="1600" b="0" i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en-GB" sz="1600" dirty="0">
                <a:solidFill>
                  <a:srgbClr val="002546"/>
                </a:solidFill>
              </a:rPr>
              <a:t>Mail</a:t>
            </a:r>
            <a:endParaRPr lang="en-GB" sz="1600" b="0" i="0" dirty="0">
              <a:solidFill>
                <a:srgbClr val="002546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33130E-2BEB-E6F4-5CB1-D75385D3AEA1}"/>
              </a:ext>
            </a:extLst>
          </p:cNvPr>
          <p:cNvSpPr/>
          <p:nvPr/>
        </p:nvSpPr>
        <p:spPr bwMode="auto">
          <a:xfrm>
            <a:off x="189756" y="5367408"/>
            <a:ext cx="8064896" cy="509864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40C981-8FA0-9512-4663-3FFB83DE7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196" y="3212976"/>
            <a:ext cx="5470376" cy="296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41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0F2F-4A4D-452D-E9BD-B0AFF70C2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C8D1-96A8-4803-F257-F1050098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DD352-0696-8509-9151-87B6D7F7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3D38-98E6-A84E-A4CB-7A471696AB35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841CA7-F560-A812-B9B4-C60EE42EE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/>
          <a:p>
            <a:pPr>
              <a:buNone/>
            </a:pPr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Gruppearbejde</a:t>
            </a:r>
          </a:p>
          <a:p>
            <a:pPr marL="285750" indent="-285750"/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Grupper på 2 – 4 </a:t>
            </a:r>
          </a:p>
          <a:p>
            <a:pPr>
              <a:buNone/>
            </a:pPr>
            <a:endParaRPr lang="da-DK" sz="1600" b="0" i="0" noProof="0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pPr>
              <a:buNone/>
            </a:pPr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Afleveringsopgaver</a:t>
            </a:r>
          </a:p>
          <a:p>
            <a:pPr marL="285750" indent="-285750"/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Introduceres ved det fysiske møde</a:t>
            </a:r>
          </a:p>
          <a:p>
            <a:pPr marL="285750" indent="-285750"/>
            <a:r>
              <a:rPr lang="da-DK" sz="1600" dirty="0">
                <a:solidFill>
                  <a:schemeClr val="bg1">
                    <a:lumMod val="50000"/>
                  </a:schemeClr>
                </a:solidFill>
              </a:rPr>
              <a:t>Gruppeaflevering</a:t>
            </a:r>
            <a:endParaRPr lang="da-DK" sz="1600" noProof="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/>
            <a:r>
              <a:rPr lang="da-DK" sz="1600" dirty="0">
                <a:solidFill>
                  <a:schemeClr val="bg1">
                    <a:lumMod val="50000"/>
                  </a:schemeClr>
                </a:solidFill>
              </a:rPr>
              <a:t>Afleveres </a:t>
            </a:r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ved online møde</a:t>
            </a:r>
          </a:p>
          <a:p>
            <a:pPr marL="285750" indent="-285750"/>
            <a:endParaRPr lang="da-DK" sz="1600" b="0" i="0" noProof="0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pPr>
              <a:buNone/>
            </a:pPr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Materiale</a:t>
            </a:r>
          </a:p>
          <a:p>
            <a:pPr marL="285750" indent="-285750"/>
            <a:r>
              <a:rPr lang="da-DK" sz="1600" b="0" i="0" noProof="0" dirty="0">
                <a:solidFill>
                  <a:schemeClr val="bg1">
                    <a:lumMod val="50000"/>
                  </a:schemeClr>
                </a:solidFill>
                <a:effectLst/>
              </a:rPr>
              <a:t>Slides og d</a:t>
            </a:r>
            <a:r>
              <a:rPr lang="da-DK" sz="1600" noProof="0" dirty="0">
                <a:solidFill>
                  <a:schemeClr val="bg1">
                    <a:lumMod val="50000"/>
                  </a:schemeClr>
                </a:solidFill>
              </a:rPr>
              <a:t>igitalt materiale</a:t>
            </a:r>
          </a:p>
          <a:p>
            <a:pPr marL="285750" indent="-285750"/>
            <a:endParaRPr lang="en-GB" sz="16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GB" sz="1600" b="0" i="0" dirty="0">
                <a:solidFill>
                  <a:schemeClr val="bg1">
                    <a:lumMod val="50000"/>
                  </a:schemeClr>
                </a:solidFill>
                <a:effectLst/>
              </a:rPr>
              <a:t>Brightspace</a:t>
            </a:r>
          </a:p>
          <a:p>
            <a:pPr>
              <a:buNone/>
            </a:pPr>
            <a:endParaRPr lang="en-GB" sz="1600" b="0" i="0" dirty="0">
              <a:solidFill>
                <a:srgbClr val="002546"/>
              </a:solidFill>
              <a:effectLst/>
            </a:endParaRPr>
          </a:p>
          <a:p>
            <a:pPr>
              <a:buNone/>
            </a:pPr>
            <a:r>
              <a:rPr lang="da-DK" sz="1600" noProof="1">
                <a:solidFill>
                  <a:srgbClr val="002546"/>
                </a:solidFill>
              </a:rPr>
              <a:t>Kontakt</a:t>
            </a:r>
            <a:endParaRPr lang="en-GB" sz="1600" b="0" i="0" dirty="0">
              <a:solidFill>
                <a:srgbClr val="002546"/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D16A0-DC33-2C8D-A6CF-178471C50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753" y="3335434"/>
            <a:ext cx="3750320" cy="2951246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40360678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EC735-305D-2304-5A19-6D6DA6B2A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E3BC-B943-922E-DD02-0ABF31AA9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86AA9-8736-F39E-E51D-5833E72F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3D38-98E6-A84E-A4CB-7A471696AB35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91353B-79CA-6850-AA8A-EB125B102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886075" cy="4576260"/>
          </a:xfrm>
        </p:spPr>
        <p:txBody>
          <a:bodyPr/>
          <a:lstStyle/>
          <a:p>
            <a:pPr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Arbejdsbelastning</a:t>
            </a:r>
          </a:p>
          <a:p>
            <a:pPr>
              <a:buNone/>
            </a:pPr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5 ECTS svarer til ca 137 arbejdstimer</a:t>
            </a:r>
          </a:p>
          <a:p>
            <a:pPr marL="285750" indent="-285750"/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4 fysiske seminarer á 7 timer er 28 timer</a:t>
            </a:r>
          </a:p>
          <a:p>
            <a:pPr marL="285750" indent="-285750"/>
            <a:r>
              <a:rPr lang="da-DK" sz="1600" noProof="0" dirty="0">
                <a:solidFill>
                  <a:srgbClr val="0A0A0A"/>
                </a:solidFill>
              </a:rPr>
              <a:t>7 online møde á 2 timer er 14 timer</a:t>
            </a: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			I alt 42 timer</a:t>
            </a:r>
          </a:p>
          <a:p>
            <a:pPr marL="285750" indent="-285750"/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Hjemmearbejde (inkl eksamen) 137 – 42 = 95 timer</a:t>
            </a:r>
          </a:p>
          <a:p>
            <a:pPr marL="285750" indent="-285750"/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/>
            <a:r>
              <a:rPr lang="da-DK" sz="1600" noProof="0" dirty="0">
                <a:solidFill>
                  <a:srgbClr val="0A0A0A"/>
                </a:solidFill>
              </a:rPr>
              <a:t>14 uger med ca 10 arbejdstimer pr uge</a:t>
            </a:r>
            <a:endParaRPr lang="da-DK" sz="1600" b="0" i="0" noProof="0" dirty="0">
              <a:solidFill>
                <a:srgbClr val="0A0A0A"/>
              </a:solidFill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396412-BA85-ED93-9A33-CA1CBCE1E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668" y="1229486"/>
            <a:ext cx="4115296" cy="411529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23854F-9894-5DB6-A68E-20F209039D16}"/>
              </a:ext>
            </a:extLst>
          </p:cNvPr>
          <p:cNvSpPr/>
          <p:nvPr/>
        </p:nvSpPr>
        <p:spPr bwMode="auto">
          <a:xfrm>
            <a:off x="837828" y="2564904"/>
            <a:ext cx="5472608" cy="280831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890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6ECF4-F00A-3EF9-A564-E10A6410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E150-0ED4-C957-3DFD-A59DD90D4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98D2C-2AA2-BFBA-D0F1-8096E57A4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3D38-98E6-A84E-A4CB-7A471696AB35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C11CCD-A39C-0D0B-7700-3C3303F2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886075" cy="4576260"/>
          </a:xfrm>
        </p:spPr>
        <p:txBody>
          <a:bodyPr/>
          <a:lstStyle/>
          <a:p>
            <a:pPr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Arbejdsbelastning</a:t>
            </a:r>
          </a:p>
          <a:p>
            <a:pPr>
              <a:buNone/>
            </a:pPr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5 ECTS svarer til ca 137 arbejdstimer</a:t>
            </a:r>
          </a:p>
          <a:p>
            <a:pPr marL="285750" indent="-285750"/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4 fysiske seminarer á 7 timer er 28 timer</a:t>
            </a:r>
          </a:p>
          <a:p>
            <a:pPr marL="285750" indent="-285750"/>
            <a:r>
              <a:rPr lang="da-DK" sz="1600" noProof="0" dirty="0">
                <a:solidFill>
                  <a:srgbClr val="0A0A0A"/>
                </a:solidFill>
              </a:rPr>
              <a:t>7 online møde á 2 timer er 14 timer</a:t>
            </a: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			I alt 42 timer</a:t>
            </a:r>
          </a:p>
          <a:p>
            <a:pPr marL="285750" indent="-285750"/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Hjemmearbejde (inkl eksamen) 137 – 42 = 95 timer</a:t>
            </a:r>
          </a:p>
          <a:p>
            <a:pPr marL="285750" indent="-285750"/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/>
            <a:r>
              <a:rPr lang="da-DK" sz="1600" noProof="0" dirty="0">
                <a:solidFill>
                  <a:srgbClr val="0A0A0A"/>
                </a:solidFill>
              </a:rPr>
              <a:t>14 uger med ca 10 arbejdstimer pr uge</a:t>
            </a:r>
            <a:endParaRPr lang="da-DK" sz="1600" b="0" i="0" noProof="0" dirty="0">
              <a:solidFill>
                <a:srgbClr val="0A0A0A"/>
              </a:solidFill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3C26A0-1996-1B35-CCBD-BEF057E8E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668" y="1229486"/>
            <a:ext cx="4115296" cy="411529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4DBB78-9D8D-E0AE-9786-86078F368D62}"/>
              </a:ext>
            </a:extLst>
          </p:cNvPr>
          <p:cNvSpPr/>
          <p:nvPr/>
        </p:nvSpPr>
        <p:spPr bwMode="auto">
          <a:xfrm>
            <a:off x="837828" y="3717032"/>
            <a:ext cx="5472608" cy="1656184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525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F825-98EC-B8C4-ABCF-7339F111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A42F-19A6-779A-9F7C-48C26CDFD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7189C-9E7D-83BB-3FD8-9DDD09250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3D38-98E6-A84E-A4CB-7A471696AB35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37A7D6-1F2D-2FCC-CA21-5608DDCDC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886075" cy="4576260"/>
          </a:xfrm>
        </p:spPr>
        <p:txBody>
          <a:bodyPr/>
          <a:lstStyle/>
          <a:p>
            <a:pPr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Arbejdsbelastning</a:t>
            </a:r>
          </a:p>
          <a:p>
            <a:pPr>
              <a:buNone/>
            </a:pPr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5 ECTS svarer til ca 137 arbejdstimer</a:t>
            </a:r>
          </a:p>
          <a:p>
            <a:pPr marL="285750" indent="-285750"/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4 fysiske seminarer á 7 timer er 28 timer</a:t>
            </a:r>
          </a:p>
          <a:p>
            <a:pPr marL="285750" indent="-285750"/>
            <a:r>
              <a:rPr lang="da-DK" sz="1600" noProof="0" dirty="0">
                <a:solidFill>
                  <a:srgbClr val="0A0A0A"/>
                </a:solidFill>
              </a:rPr>
              <a:t>7 online møde á 2 timer er 14 timer</a:t>
            </a: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			I alt 42 timer</a:t>
            </a:r>
          </a:p>
          <a:p>
            <a:pPr marL="285750" indent="-285750"/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Hjemmearbejde (inkl eksamen) 137 – 42 = 95 timer</a:t>
            </a:r>
          </a:p>
          <a:p>
            <a:pPr marL="285750" indent="-285750"/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/>
            <a:r>
              <a:rPr lang="da-DK" sz="1600" noProof="0" dirty="0">
                <a:solidFill>
                  <a:srgbClr val="0A0A0A"/>
                </a:solidFill>
              </a:rPr>
              <a:t>14 uger med ca 10 arbejdstimer pr uge</a:t>
            </a:r>
            <a:endParaRPr lang="da-DK" sz="1600" b="0" i="0" noProof="0" dirty="0">
              <a:solidFill>
                <a:srgbClr val="0A0A0A"/>
              </a:solidFill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721702-3FD7-0E88-7E9C-CB4D64CB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668" y="1229486"/>
            <a:ext cx="4115296" cy="411529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A830D43-B071-9385-E050-D3BA52B3C4CC}"/>
              </a:ext>
            </a:extLst>
          </p:cNvPr>
          <p:cNvSpPr/>
          <p:nvPr/>
        </p:nvSpPr>
        <p:spPr bwMode="auto">
          <a:xfrm>
            <a:off x="837828" y="4365104"/>
            <a:ext cx="5472608" cy="1008112"/>
          </a:xfrm>
          <a:prstGeom prst="rect">
            <a:avLst/>
          </a:prstGeom>
          <a:solidFill>
            <a:schemeClr val="bg1"/>
          </a:solidFill>
          <a:ln w="1778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7921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6C1E-D982-6518-1C38-72DF32AC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D7356-E7C0-896D-E2D5-87956507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0" noProof="1"/>
              <a:t>objektorienteret programmering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C8C6-D7AF-21A1-7A3E-3E5AF4037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3D38-98E6-A84E-A4CB-7A471696AB35}" type="datetime1">
              <a:rPr lang="da-DK" smtClean="0"/>
              <a:t>23.01.2026</a:t>
            </a:fld>
            <a:r>
              <a:rPr lang="da-DK"/>
              <a:t>08-12-2023</a:t>
            </a:r>
            <a:endParaRPr lang="da-DK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507E41-7A6E-26BA-16E6-9E5A6F308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8" y="1373021"/>
            <a:ext cx="10886075" cy="4576260"/>
          </a:xfrm>
        </p:spPr>
        <p:txBody>
          <a:bodyPr/>
          <a:lstStyle/>
          <a:p>
            <a:pPr>
              <a:buNone/>
            </a:pPr>
            <a:r>
              <a:rPr lang="da-DK" b="0" i="0" noProof="0" dirty="0">
                <a:solidFill>
                  <a:srgbClr val="0A0A0A"/>
                </a:solidFill>
                <a:effectLst/>
              </a:rPr>
              <a:t>Arbejdsbelastning</a:t>
            </a:r>
          </a:p>
          <a:p>
            <a:pPr>
              <a:buNone/>
            </a:pPr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5 ECTS svarer til ca 137 arbejdstimer</a:t>
            </a:r>
          </a:p>
          <a:p>
            <a:pPr marL="285750" indent="-285750"/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4 fysiske seminarer á 7 timer er 28 timer</a:t>
            </a:r>
          </a:p>
          <a:p>
            <a:pPr marL="285750" indent="-285750"/>
            <a:r>
              <a:rPr lang="da-DK" sz="1600" noProof="0" dirty="0">
                <a:solidFill>
                  <a:srgbClr val="0A0A0A"/>
                </a:solidFill>
              </a:rPr>
              <a:t>7 online møde á 2 timer er 14 timer</a:t>
            </a: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			I alt 42 timer</a:t>
            </a:r>
          </a:p>
          <a:p>
            <a:pPr marL="285750" indent="-285750"/>
            <a:endParaRPr lang="da-DK" sz="1600" noProof="0" dirty="0">
              <a:solidFill>
                <a:srgbClr val="0A0A0A"/>
              </a:solidFill>
            </a:endParaRPr>
          </a:p>
          <a:p>
            <a:pPr marL="285750" indent="-285750"/>
            <a:r>
              <a:rPr lang="da-DK" sz="1600" b="0" i="0" noProof="0" dirty="0">
                <a:solidFill>
                  <a:srgbClr val="0A0A0A"/>
                </a:solidFill>
                <a:effectLst/>
              </a:rPr>
              <a:t>Hjemmearbejde (inkl eksamen) 137 – 42 = 95 timer</a:t>
            </a:r>
          </a:p>
          <a:p>
            <a:pPr marL="285750" indent="-285750"/>
            <a:endParaRPr lang="da-DK" sz="1600" b="0" i="0" noProof="0" dirty="0">
              <a:solidFill>
                <a:srgbClr val="0A0A0A"/>
              </a:solidFill>
              <a:effectLst/>
            </a:endParaRPr>
          </a:p>
          <a:p>
            <a:pPr marL="285750" indent="-285750"/>
            <a:r>
              <a:rPr lang="da-DK" sz="1600" noProof="0" dirty="0">
                <a:solidFill>
                  <a:srgbClr val="0A0A0A"/>
                </a:solidFill>
              </a:rPr>
              <a:t>14 uger med ca 10 arbejdstimer pr uge</a:t>
            </a:r>
            <a:endParaRPr lang="da-DK" sz="1600" b="0" i="0" noProof="0" dirty="0">
              <a:solidFill>
                <a:srgbClr val="0A0A0A"/>
              </a:solidFill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576D75-63A1-EF13-FE5A-BC3491590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668" y="1229486"/>
            <a:ext cx="4115296" cy="411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297428"/>
      </p:ext>
    </p:extLst>
  </p:cSld>
  <p:clrMapOvr>
    <a:masterClrMapping/>
  </p:clrMapOvr>
</p:sld>
</file>

<file path=ppt/theme/theme1.xml><?xml version="1.0" encoding="utf-8"?>
<a:theme xmlns:a="http://schemas.openxmlformats.org/drawingml/2006/main" name="AU 16:9">
  <a:themeElements>
    <a:clrScheme name="AU_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3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1481</Words>
  <Application>Microsoft Macintosh PowerPoint</Application>
  <PresentationFormat>Custom</PresentationFormat>
  <Paragraphs>406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AU Peto</vt:lpstr>
      <vt:lpstr>Calibri</vt:lpstr>
      <vt:lpstr>AU Passata</vt:lpstr>
      <vt:lpstr>Georgia</vt:lpstr>
      <vt:lpstr>AU Passata Light</vt:lpstr>
      <vt:lpstr>AU 16:9</vt:lpstr>
      <vt:lpstr>introduktion </vt:lpstr>
      <vt:lpstr>fra kursuskataloget</vt:lpstr>
      <vt:lpstr>fra kursuskataloget</vt:lpstr>
      <vt:lpstr>fra kursuskataloget</vt:lpstr>
      <vt:lpstr>fra kursuskataloget</vt:lpstr>
      <vt:lpstr>fra kursuskataloget</vt:lpstr>
      <vt:lpstr>fra kursuskataloget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  <vt:lpstr>objektorienteret programmering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2026-01-23T11:10:32Z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luginDependencies_0">
    <vt:lpwstr>{"635926855539746206:636045261152541358":[{"dependencyType":"DataSource","dependencyId":":","dependencyVersion":null},{"dependencyType":"DataSource","dependencyId":":","dependencyVersion":null},{"dependencyType":"DataSource","dependencyId":":","dependency</vt:lpwstr>
  </property>
  <property fmtid="{D5CDD505-2E9C-101B-9397-08002B2CF9AE}" pid="3" name="PluginDependencies_1">
    <vt:lpwstr>Version":null},{"dependencyType":"DataSource","dependencyId":":","dependencyVersion":null},{"dependencyType":"DataSource","dependencyId":":","dependencyVersion":null},{"dependencyType":"DataSource","dependencyId":":","dependencyVersion":null},{"dependency</vt:lpwstr>
  </property>
  <property fmtid="{D5CDD505-2E9C-101B-9397-08002B2CF9AE}" pid="4" name="PluginDependencies_2">
    <vt:lpwstr>Type":"DataSource","dependencyId":":","dependencyVersion":null},{"dependencyType":"DataSource","dependencyId":":","dependencyVersion":null},{"dependencyType":"DataSource","dependencyId":":","dependencyVersion":null},{"dependencyType":"DataSource","depende</vt:lpwstr>
  </property>
  <property fmtid="{D5CDD505-2E9C-101B-9397-08002B2CF9AE}" pid="5" name="PluginDependencies_3">
    <vt:lpwstr>ncyId":":","dependencyVersion":null},{"dependencyType":"DataSource","dependencyId":":","dependencyVersion":null},{"dependencyType":"DataSource","dependencyId":":","dependencyVersion":null},{"dependencyType":"DataSource","dependencyId":":","dependencyVersi</vt:lpwstr>
  </property>
  <property fmtid="{D5CDD505-2E9C-101B-9397-08002B2CF9AE}" pid="6" name="PluginDependencies_4">
    <vt:lpwstr>on":null},{"dependencyType":"DataSource","dependencyId":":","dependencyVersion":null},{"dependencyType":"DataSource","dependencyId":":","dependencyVersion":null},{"dependencyType":"DataSource","dependencyId":":","dependencyVersion":null},{"dependencyType"</vt:lpwstr>
  </property>
  <property fmtid="{D5CDD505-2E9C-101B-9397-08002B2CF9AE}" pid="7" name="PluginDependencies_5">
    <vt:lpwstr>:"DataSource","dependencyId":":","dependencyVersion":null},{"dependencyType":"DataSource","dependencyId":":","dependencyVersion":null},{"dependencyType":"DataSource","dependencyId":":","dependencyVersion":null},{"dependencyType":"DataSource","dependencyId</vt:lpwstr>
  </property>
  <property fmtid="{D5CDD505-2E9C-101B-9397-08002B2CF9AE}" pid="8" name="PluginDependencies_6">
    <vt:lpwstr>":":","dependencyVersion":null},{"dependencyType":"DataSource","dependencyId":":","dependencyVersion":null},{"dependencyType":"DataSource","dependencyId":":","dependencyVersion":null},{"dependencyType":"DataSource","dependencyId":":","dependencyVersion":n</vt:lpwstr>
  </property>
  <property fmtid="{D5CDD505-2E9C-101B-9397-08002B2CF9AE}" pid="9" name="PluginDependencies_7">
    <vt:lpwstr>ull},{"dependencyType":"DataSource","dependencyId":":","dependencyVersion":null},{"dependencyType":"DataSource","dependencyId":":","dependencyVersion":null},{"dependencyType":"DataSource","dependencyId":":","dependencyVersion":null},{"dependencyType":"Dat</vt:lpwstr>
  </property>
  <property fmtid="{D5CDD505-2E9C-101B-9397-08002B2CF9AE}" pid="10" name="PluginDependencies_8">
    <vt:lpwstr>aSource","dependencyId":":","dependencyVersion":null},{"dependencyType":"DataSource","dependencyId":":","dependencyVersion":null},{"dependencyType":"DataSource","dependencyId":":","dependencyVersion":null},{"dependencyType":"DataSource","dependencyId":":"</vt:lpwstr>
  </property>
  <property fmtid="{D5CDD505-2E9C-101B-9397-08002B2CF9AE}" pid="11" name="PluginDependencies_9">
    <vt:lpwstr>,"dependencyVersion":null},{"dependencyType":"DataSource","dependencyId":":","dependencyVersion":null},{"dependencyType":"DataSource","dependencyId":":","dependencyVersion":null},{"dependencyType":"DataSource","dependencyId":":","dependencyVersion":null},</vt:lpwstr>
  </property>
  <property fmtid="{D5CDD505-2E9C-101B-9397-08002B2CF9AE}" pid="12" name="PluginDependencies_10">
    <vt:lpwstr>{"dependencyType":"DataSource","dependencyId":":","dependencyVersion":null},{"dependencyType":"DataSource","dependencyId":":","dependencyVersion":null},{"dependencyType":"DataSource","dependencyId":":","dependencyVersion":null},{"dependencyType":"DataSour</vt:lpwstr>
  </property>
  <property fmtid="{D5CDD505-2E9C-101B-9397-08002B2CF9AE}" pid="13" name="PluginDependencies_11">
    <vt:lpwstr>ce","dependencyId":":","dependencyVersion":null},{"dependencyType":"DataSource","dependencyId":":","dependencyVersion":null},{"dependencyType":"DataSource","dependencyId":":","dependencyVersion":null},{"dependencyType":"DataSource","dependencyId":":","dep</vt:lpwstr>
  </property>
  <property fmtid="{D5CDD505-2E9C-101B-9397-08002B2CF9AE}" pid="14" name="PluginDependencies_12">
    <vt:lpwstr>endencyVersion":null},{"dependencyType":"DataSource","dependencyId":":","dependencyVersion":null},{"dependencyType":"DataSource","dependencyId":":","dependencyVersion":null},{"dependencyType":"DataSource","dependencyId":":","dependencyVersion":null},{"dep</vt:lpwstr>
  </property>
  <property fmtid="{D5CDD505-2E9C-101B-9397-08002B2CF9AE}" pid="15" name="PluginDependencies_13">
    <vt:lpwstr>endencyType":"DataSource","dependencyId":":","dependencyVersion":null},{"dependencyType":"DataSource","dependencyId":":","dependencyVersion":null},{"dependencyType":"DataSource","dependencyId":":","dependencyVersion":null},{"dependencyType":"DataSource","</vt:lpwstr>
  </property>
  <property fmtid="{D5CDD505-2E9C-101B-9397-08002B2CF9AE}" pid="16" name="PluginDependencies_14">
    <vt:lpwstr>dependencyId":":","dependencyVersion":null},{"dependencyType":"DataSource","dependencyId":":","dependencyVersion":null},{"dependencyType":"DataSource","dependencyId":":","dependencyVersion":null},{"dependencyType":"DataSource","dependencyId":":","dependen</vt:lpwstr>
  </property>
  <property fmtid="{D5CDD505-2E9C-101B-9397-08002B2CF9AE}" pid="17" name="PluginDependencies_15">
    <vt:lpwstr>cyVersion":null},{"dependencyType":"DataSource","dependencyId":":","dependencyVersion":null},{"dependencyType":"DataSource","dependencyId":":","dependencyVersion":null},{"dependencyType":"DataSource","dependencyId":":","dependencyVersion":null},{"dependen</vt:lpwstr>
  </property>
  <property fmtid="{D5CDD505-2E9C-101B-9397-08002B2CF9AE}" pid="18" name="PluginDependencies_16">
    <vt:lpwstr>cyType":"DataSource","dependencyId":":","dependencyVersion":null},{"dependencyType":"DataSource","dependencyId":":","dependencyVersion":null},{"dependencyType":"DataSource","dependencyId":":","dependencyVersion":null},{"dependencyType":"DataSource","depen</vt:lpwstr>
  </property>
  <property fmtid="{D5CDD505-2E9C-101B-9397-08002B2CF9AE}" pid="19" name="PluginDependencies_17">
    <vt:lpwstr>dencyId":":","dependencyVersion":null},{"dependencyType":"DataSource","dependencyId":":","dependencyVersion":null},{"dependencyType":"DataSource","dependencyId":":","dependencyVersion":null},{"dependencyType":"DataSource","dependencyId":":","dependencyVer</vt:lpwstr>
  </property>
  <property fmtid="{D5CDD505-2E9C-101B-9397-08002B2CF9AE}" pid="20" name="PluginDependencies_18">
    <vt:lpwstr>sion":null},{"dependencyType":"DataSource","dependencyId":":","dependencyVersion":null},{"dependencyType":"DataSource","dependencyId":":","dependencyVersion":null},{"dependencyType":"DataSource","dependencyId":":","dependencyVersion":null},{"dependencyTyp</vt:lpwstr>
  </property>
  <property fmtid="{D5CDD505-2E9C-101B-9397-08002B2CF9AE}" pid="21" name="PluginDependencies_19">
    <vt:lpwstr>e":"DataSource","dependencyId":":","dependencyVersion":null},{"dependencyType":"DataSource","dependencyId":":","dependencyVersion":null},{"dependencyType":"DataSource","dependencyId":":","dependencyVersion":null},{"dependencyType":"DataSource","dependency</vt:lpwstr>
  </property>
  <property fmtid="{D5CDD505-2E9C-101B-9397-08002B2CF9AE}" pid="22" name="PluginDependencies_20">
    <vt:lpwstr>Id":":","dependencyVersion":null},{"dependencyType":"DataSource","dependencyId":":","dependencyVersion":null},{"dependencyType":"DataSource","dependencyId":":","dependencyVersion":null},{"dependencyType":"DataSource","dependencyId":":","dependencyVersion"</vt:lpwstr>
  </property>
  <property fmtid="{D5CDD505-2E9C-101B-9397-08002B2CF9AE}" pid="23" name="PluginDependencies_21">
    <vt:lpwstr>:null},{"dependencyType":"DataSource","dependencyId":":","dependencyVersion":null},{"dependencyType":"DataSource","dependencyId":":","dependencyVersion":null},{"dependencyType":"DataSource","dependencyId":":","dependencyVersion":null},{"dependencyType":"D</vt:lpwstr>
  </property>
  <property fmtid="{D5CDD505-2E9C-101B-9397-08002B2CF9AE}" pid="24" name="PluginDependencies_22">
    <vt:lpwstr>ataSource","dependencyId":":","dependencyVersion":null},{"dependencyType":"DataSource","dependencyId":":","dependencyVersion":null},{"dependencyType":"DataSource","dependencyId":":","dependencyVersion":null},{"dependencyType":"DataSource","dependencyId":"</vt:lpwstr>
  </property>
  <property fmtid="{D5CDD505-2E9C-101B-9397-08002B2CF9AE}" pid="25" name="PluginDependencies_23">
    <vt:lpwstr>:","dependencyVersion":null},{"dependencyType":"DataSource","dependencyId":":","dependencyVersion":null},{"dependencyType":"DataSource","dependencyId":":","dependencyVersion":null},{"dependencyType":"DataSource","dependencyId":":","dependencyVersion":null</vt:lpwstr>
  </property>
  <property fmtid="{D5CDD505-2E9C-101B-9397-08002B2CF9AE}" pid="26" name="PluginDependencies_24">
    <vt:lpwstr>},{"dependencyType":"DataSource","dependencyId":":","dependencyVersion":null},{"dependencyType":"DataSource","dependencyId":":","dependencyVersion":null},{"dependencyType":"DataSource","dependencyId":":","dependencyVersion":null},{"dependencyType":"DataSo</vt:lpwstr>
  </property>
  <property fmtid="{D5CDD505-2E9C-101B-9397-08002B2CF9AE}" pid="27" name="PluginDependencies_25">
    <vt:lpwstr>urce","dependencyId":":","dependencyVersion":null},{"dependencyType":"DataSource","dependencyId":":","dependencyVersion":null},{"dependencyType":"DataSource","dependencyId":":","dependencyVersion":null},{"dependencyType":"DataSource","dependencyId":":","d</vt:lpwstr>
  </property>
  <property fmtid="{D5CDD505-2E9C-101B-9397-08002B2CF9AE}" pid="28" name="PluginDependencies_26">
    <vt:lpwstr>ependencyVersion":null},{"dependencyType":"DataSource","dependencyId":":","dependencyVersion":null},{"dependencyType":"DataSource","dependencyId":":","dependencyVersion":null},{"dependencyType":"DataSource","dependencyId":":","dependencyVersion":null},{"d</vt:lpwstr>
  </property>
  <property fmtid="{D5CDD505-2E9C-101B-9397-08002B2CF9AE}" pid="29" name="PluginDependencies_27">
    <vt:lpwstr>ependencyType":"DataSource","dependencyId":":","dependencyVersion":null},{"dependencyType":"DataSource","dependencyId":":","dependencyVersion":null},{"dependencyType":"DataSource","dependencyId":":","dependencyVersion":null},{"dependencyType":"DataSource"</vt:lpwstr>
  </property>
  <property fmtid="{D5CDD505-2E9C-101B-9397-08002B2CF9AE}" pid="30" name="PluginDependencies_28">
    <vt:lpwstr>,"dependencyId":":","dependencyVersion":null},{"dependencyType":"DataSource","dependencyId":":","dependencyVersion":null},{"dependencyType":"DataSource","dependencyId":":","dependencyVersion":null},{"dependencyType":"DataSource","dependencyId":":","depend</vt:lpwstr>
  </property>
  <property fmtid="{D5CDD505-2E9C-101B-9397-08002B2CF9AE}" pid="31" name="PluginDependencies_29">
    <vt:lpwstr>encyVersion":null},{"dependencyType":"DataSource","dependencyId":":","dependencyVersion":null},{"dependencyType":"DataSource","dependencyId":":","dependencyVersion":null},{"dependencyType":"DataSource","dependencyId":":","dependencyVersion":null},{"depend</vt:lpwstr>
  </property>
  <property fmtid="{D5CDD505-2E9C-101B-9397-08002B2CF9AE}" pid="32" name="PluginDependencies_30">
    <vt:lpwstr>encyType":"DataSource","dependencyId":":","dependencyVersion":null},{"dependencyType":"DataSource","dependencyId":":","dependencyVersion":null},{"dependencyType":"DataSource","dependencyId":":","dependencyVersion":null},{"dependencyType":"DataSource","dep</vt:lpwstr>
  </property>
  <property fmtid="{D5CDD505-2E9C-101B-9397-08002B2CF9AE}" pid="33" name="PluginDependencies_31">
    <vt:lpwstr>endencyId":":","dependencyVersion":null},{"dependencyType":"DataSource","dependencyId":":","dependencyVersion":null},{"dependencyType":"DataSource","dependencyId":":","dependencyVersion":null},{"dependencyType":"DataSource","dependencyId":":","dependencyV</vt:lpwstr>
  </property>
  <property fmtid="{D5CDD505-2E9C-101B-9397-08002B2CF9AE}" pid="34" name="PluginDependencies_32">
    <vt:lpwstr>ersion":null},{"dependencyType":"DataSource","dependencyId":":","dependencyVersion":null},{"dependencyType":"DataSource","dependencyId":":","dependencyVersion":null},{"dependencyType":"DataSource","dependencyId":":","dependencyVersion":null},{"dependencyT</vt:lpwstr>
  </property>
  <property fmtid="{D5CDD505-2E9C-101B-9397-08002B2CF9AE}" pid="35" name="PluginDependencies_33">
    <vt:lpwstr>ype":"DataSource","dependencyId":":","dependencyVersion":null},{"dependencyType":"DataSource","dependencyId":":","dependencyVersion":null},{"dependencyType":"DataSource","dependencyId":":","dependencyVersion":null},{"dependencyType":"DataSource","dependen</vt:lpwstr>
  </property>
  <property fmtid="{D5CDD505-2E9C-101B-9397-08002B2CF9AE}" pid="36" name="PluginDependencies_34">
    <vt:lpwstr>cyId":":","dependencyVersion":null},{"dependencyType":"DataSource","dependencyId":":","dependencyVersion":null},{"dependencyType":"DataSource","dependencyId":":","dependencyVersion":null},{"dependencyType":"DataSource","dependencyId":":","dependencyVersio</vt:lpwstr>
  </property>
  <property fmtid="{D5CDD505-2E9C-101B-9397-08002B2CF9AE}" pid="37" name="PluginDependencies_35">
    <vt:lpwstr>n":null},{"dependencyType":"DataSource","dependencyId":":","dependencyVersion":null},{"dependencyType":"DataSource","dependencyId":":","dependencyVersion":null},{"dependencyType":"DataSource","dependencyId":":","dependencyVersion":null},{"dependencyType":</vt:lpwstr>
  </property>
  <property fmtid="{D5CDD505-2E9C-101B-9397-08002B2CF9AE}" pid="38" name="PluginDependencies_36">
    <vt:lpwstr>"DataSource","dependencyId":":","dependencyVersion":null},{"dependencyType":"DataSource","dependencyId":":","dependencyVersion":null},{"dependencyType":"DataSource","dependencyId":":","dependencyVersion":null},{"dependencyType":"DataSource","dependencyId"</vt:lpwstr>
  </property>
  <property fmtid="{D5CDD505-2E9C-101B-9397-08002B2CF9AE}" pid="39" name="PluginDependencies_37">
    <vt:lpwstr>:":","dependencyVersion":null},{"dependencyType":"DataSource","dependencyId":":","dependencyVersion":null},{"dependencyType":"DataSource","dependencyId":":","dependencyVersion":null},{"dependencyType":"DataSource","dependencyId":":","dependencyVersion":nu</vt:lpwstr>
  </property>
  <property fmtid="{D5CDD505-2E9C-101B-9397-08002B2CF9AE}" pid="40" name="PluginDependencies_38">
    <vt:lpwstr>ll},{"dependencyType":"DataSource","dependencyId":":","dependencyVersion":null},{"dependencyType":"DataSource","dependencyId":":","dependencyVersion":null},{"dependencyType":"DataSource","dependencyId":":","dependencyVersion":null},{"dependencyType":"Data</vt:lpwstr>
  </property>
  <property fmtid="{D5CDD505-2E9C-101B-9397-08002B2CF9AE}" pid="41" name="PluginDependencies_39">
    <vt:lpwstr>Source","dependencyId":":","dependencyVersion":null},{"dependencyType":"DataSource","dependencyId":":","dependencyVersion":null},{"dependencyType":"DataSource","dependencyId":":","dependencyVersion":null},{"dependencyType":"DataSource","dependencyId":":",</vt:lpwstr>
  </property>
  <property fmtid="{D5CDD505-2E9C-101B-9397-08002B2CF9AE}" pid="42" name="PluginDependencies_40">
    <vt:lpwstr>"dependencyVersion":null},{"dependencyType":"DataSource","dependencyId":":","dependencyVersion":null},{"dependencyType":"DataSource","dependencyId":":","dependencyVersion":null},{"dependencyType":"DataSource","dependencyId":":","dependencyVersion":null},{</vt:lpwstr>
  </property>
  <property fmtid="{D5CDD505-2E9C-101B-9397-08002B2CF9AE}" pid="43" name="PluginDependencies_41">
    <vt:lpwstr>"dependencyType":"DataSource","dependencyId":":","dependencyVersion":null},{"dependencyType":"DataSource","dependencyId":":","dependencyVersion":null},{"dependencyType":"DataSource","dependencyId":":","dependencyVersion":null},{"dependencyType":"DataSourc</vt:lpwstr>
  </property>
  <property fmtid="{D5CDD505-2E9C-101B-9397-08002B2CF9AE}" pid="44" name="PluginDependencies_42">
    <vt:lpwstr>e","dependencyId":":","dependencyVersion":null},{"dependencyType":"DataSource","dependencyId":":","dependencyVersion":null},{"dependencyType":"DataSource","dependencyId":":","dependencyVersion":null},{"dependencyType":"DataSource","dependencyId":":","depe</vt:lpwstr>
  </property>
  <property fmtid="{D5CDD505-2E9C-101B-9397-08002B2CF9AE}" pid="45" name="PluginDependencies_43">
    <vt:lpwstr>ndencyVersion":null},{"dependencyType":"DataSource","dependencyId":":","dependencyVersion":null},{"dependencyType":"DataSource","dependencyId":":","dependencyVersion":null},{"dependencyType":"DataSource","dependencyId":":","dependencyVersion":null},{"depe</vt:lpwstr>
  </property>
  <property fmtid="{D5CDD505-2E9C-101B-9397-08002B2CF9AE}" pid="46" name="PluginDependencies_44">
    <vt:lpwstr>ndencyType":"DataSource","dependencyId":":","dependencyVersion":null},{"dependencyType":"DataSource","dependencyId":":","dependencyVersion":null},{"dependencyType":"DataSource","dependencyId":":","dependencyVersion":null},{"dependencyType":"DataSource","d</vt:lpwstr>
  </property>
  <property fmtid="{D5CDD505-2E9C-101B-9397-08002B2CF9AE}" pid="47" name="PluginDependencies_45">
    <vt:lpwstr>ependencyId":":","dependencyVersion":null},{"dependencyType":"DataSource","dependencyId":":","dependencyVersion":null},{"dependencyType":"DataSource","dependencyId":":","dependencyVersion":null},{"dependencyType":"DataSource","dependencyId":":","dependenc</vt:lpwstr>
  </property>
  <property fmtid="{D5CDD505-2E9C-101B-9397-08002B2CF9AE}" pid="48" name="PluginDependencies_46">
    <vt:lpwstr>yVersion":null},{"dependencyType":"DataSource","dependencyId":":","dependencyVersion":null},{"dependencyType":"DataSource","dependencyId":":","dependencyVersion":null},{"dependencyType":"DataSource","dependencyId":":","dependencyVersion":null},{"dependenc</vt:lpwstr>
  </property>
  <property fmtid="{D5CDD505-2E9C-101B-9397-08002B2CF9AE}" pid="49" name="PluginDependencies_47">
    <vt:lpwstr>yType":"DataSource","dependencyId":":","dependencyVersion":null},{"dependencyType":"DataSource","dependencyId":":","dependencyVersion":null},{"dependencyType":"DataSource","dependencyId":":","dependencyVersion":null},{"dependencyType":"DataSource","depend</vt:lpwstr>
  </property>
  <property fmtid="{D5CDD505-2E9C-101B-9397-08002B2CF9AE}" pid="50" name="PluginDependencies_48">
    <vt:lpwstr>encyId":":","dependencyVersion":null},{"dependencyType":"DataSource","dependencyId":":","dependencyVersion":null},{"dependencyType":"DataSource","dependencyId":":","dependencyVersion":null},{"dependencyType":"DataSource","dependencyId":":","dependencyVers</vt:lpwstr>
  </property>
  <property fmtid="{D5CDD505-2E9C-101B-9397-08002B2CF9AE}" pid="51" name="PluginDependencies_49">
    <vt:lpwstr>ion":null},{"dependencyType":"DataSource","dependencyId":":","dependencyVersion":null},{"dependencyType":"DataSource","dependencyId":":","dependencyVersion":null},{"dependencyType":"DataSource","dependencyId":":","dependencyVersion":null},{"dependencyType</vt:lpwstr>
  </property>
  <property fmtid="{D5CDD505-2E9C-101B-9397-08002B2CF9AE}" pid="52" name="PluginDependencies_50">
    <vt:lpwstr>":"DataSource","dependencyId":":","dependencyVersion":null},{"dependencyType":"DataSource","dependencyId":":","dependencyVersion":null},{"dependencyType":"DataSource","dependencyId":":","dependencyVersion":null},{"dependencyType":"DataSource","dependencyI</vt:lpwstr>
  </property>
  <property fmtid="{D5CDD505-2E9C-101B-9397-08002B2CF9AE}" pid="53" name="PluginDependencies_51">
    <vt:lpwstr>d":":","dependencyVersion":null},{"dependencyType":"DataSource","dependencyId":":","dependencyVersion":null},{"dependencyType":"DataSource","dependencyId":":","dependencyVersion":null},{"dependencyType":"DataSource","dependencyId":":","dependencyVersion":</vt:lpwstr>
  </property>
  <property fmtid="{D5CDD505-2E9C-101B-9397-08002B2CF9AE}" pid="54" name="PluginDependencies_52">
    <vt:lpwstr>null},{"dependencyType":"DataSource","dependencyId":":","dependencyVersion":null},{"dependencyType":"DataSource","dependencyId":":","dependencyVersion":null},{"dependencyType":"DataSource","dependencyId":":","dependencyVersion":null},{"dependencyType":"Da</vt:lpwstr>
  </property>
  <property fmtid="{D5CDD505-2E9C-101B-9397-08002B2CF9AE}" pid="55" name="PluginDependencies_53">
    <vt:lpwstr>taSource","dependencyId":":","dependencyVersion":null}],"635926855539746206:636045261152541359":[],"635926855539746206:636045261152541360":[],"635926855539746206:636045261152541361":[],"635926855539746206:636045261152541362":[],"635690283596553901:6357565</vt:lpwstr>
  </property>
  <property fmtid="{D5CDD505-2E9C-101B-9397-08002B2CF9AE}" pid="56" name="PluginDependencies_54">
    <vt:lpwstr>74568773657":[]}</vt:lpwstr>
  </property>
  <property fmtid="{D5CDD505-2E9C-101B-9397-08002B2CF9AE}" pid="57" name="CustomerId">
    <vt:lpwstr>auoffice</vt:lpwstr>
  </property>
  <property fmtid="{D5CDD505-2E9C-101B-9397-08002B2CF9AE}" pid="58" name="TemplateId">
    <vt:lpwstr>636196524199658508</vt:lpwstr>
  </property>
  <property fmtid="{D5CDD505-2E9C-101B-9397-08002B2CF9AE}" pid="59" name="UserProfileId">
    <vt:lpwstr>638376475290379762</vt:lpwstr>
  </property>
  <property fmtid="{D5CDD505-2E9C-101B-9397-08002B2CF9AE}" pid="60" name="TemplafyTimeStamp">
    <vt:lpwstr>2017-02-24T14:35:30.3621506Z</vt:lpwstr>
  </property>
  <property fmtid="{D5CDD505-2E9C-101B-9397-08002B2CF9AE}" pid="61" name="OfficeID">
    <vt:lpwstr>5150</vt:lpwstr>
  </property>
  <property fmtid="{D5CDD505-2E9C-101B-9397-08002B2CF9AE}" pid="62" name="colorthemechange">
    <vt:lpwstr>True</vt:lpwstr>
  </property>
</Properties>
</file>