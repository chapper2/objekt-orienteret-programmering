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4.bin" ContentType="image/png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4" r:id="rId2"/>
    <p:sldId id="294" r:id="rId3"/>
    <p:sldId id="295" r:id="rId4"/>
    <p:sldId id="296" r:id="rId5"/>
    <p:sldId id="297" r:id="rId6"/>
    <p:sldId id="298" r:id="rId7"/>
    <p:sldId id="299" r:id="rId8"/>
    <p:sldId id="266" r:id="rId9"/>
    <p:sldId id="273" r:id="rId10"/>
    <p:sldId id="268" r:id="rId11"/>
    <p:sldId id="267" r:id="rId12"/>
    <p:sldId id="272" r:id="rId13"/>
    <p:sldId id="289" r:id="rId14"/>
    <p:sldId id="271" r:id="rId15"/>
    <p:sldId id="270" r:id="rId16"/>
    <p:sldId id="290" r:id="rId17"/>
    <p:sldId id="285" r:id="rId18"/>
    <p:sldId id="305" r:id="rId19"/>
    <p:sldId id="306" r:id="rId20"/>
    <p:sldId id="307" r:id="rId21"/>
    <p:sldId id="308" r:id="rId22"/>
    <p:sldId id="309" r:id="rId23"/>
    <p:sldId id="310" r:id="rId24"/>
    <p:sldId id="274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1" r:id="rId34"/>
  </p:sldIdLst>
  <p:sldSz cx="12188825" cy="6858000"/>
  <p:notesSz cx="6797675" cy="9926638"/>
  <p:embeddedFontLst>
    <p:embeddedFont>
      <p:font typeface="AU Passata" panose="020B0503030502030804" pitchFamily="34" charset="77"/>
      <p:regular r:id="rId37"/>
      <p:bold r:id="rId38"/>
      <p:italic r:id="rId39"/>
      <p:boldItalic r:id="rId40"/>
    </p:embeddedFont>
    <p:embeddedFont>
      <p:font typeface="AU Passata Light" panose="020B0303030902030804" pitchFamily="34" charset="77"/>
      <p:regular r:id="rId41"/>
      <p:bold r:id="rId42"/>
      <p:italic r:id="rId43"/>
      <p:boldItalic r:id="rId44"/>
    </p:embeddedFont>
    <p:embeddedFont>
      <p:font typeface="AU Peto" pitchFamily="82" charset="77"/>
      <p:regular r:id="rId45"/>
      <p:bold r:id="rId46"/>
    </p:embeddedFont>
    <p:embeddedFont>
      <p:font typeface="Georgia" panose="02040502050405020303" pitchFamily="18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CCCCC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5" autoAdjust="0"/>
    <p:restoredTop sz="93493" autoAdjust="0"/>
  </p:normalViewPr>
  <p:slideViewPr>
    <p:cSldViewPr snapToObjects="1" showGuides="1">
      <p:cViewPr varScale="1">
        <p:scale>
          <a:sx n="118" d="100"/>
          <a:sy n="118" d="100"/>
        </p:scale>
        <p:origin x="960" y="2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bin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title</a:t>
            </a:r>
            <a:r>
              <a:rPr lang="da-DK" dirty="0"/>
              <a:t> style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34" name="Date_DateCustomA"/>
          <p:cNvSpPr txBox="1">
            <a:spLocks noChangeArrowheads="1"/>
          </p:cNvSpPr>
          <p:nvPr userDrawn="1"/>
        </p:nvSpPr>
        <p:spPr bwMode="auto">
          <a:xfrm>
            <a:off x="3678556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programmering</a:t>
            </a:r>
          </a:p>
        </p:txBody>
      </p:sp>
      <p:sp>
        <p:nvSpPr>
          <p:cNvPr id="36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</a:t>
            </a:r>
            <a:r>
              <a:rPr lang="da-DK" sz="700" b="0" cap="all" baseline="0" dirty="0" err="1">
                <a:solidFill>
                  <a:schemeClr val="bg1"/>
                </a:solidFill>
                <a:latin typeface="+mn-lt"/>
              </a:rPr>
              <a:t>selmann</a:t>
            </a: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da-DK" sz="700" b="0" cap="all" baseline="0" dirty="0" err="1">
                <a:solidFill>
                  <a:schemeClr val="bg1"/>
                </a:solidFill>
                <a:latin typeface="+mn-lt"/>
              </a:rPr>
              <a:t>andreassen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5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22">
            <a:extLst>
              <a:ext uri="{FF2B5EF4-FFF2-40B4-BE49-F238E27FC236}">
                <a16:creationId xmlns:a16="http://schemas.microsoft.com/office/drawing/2014/main" id="{EB1DCABA-936F-B9C3-36F1-F07AE32E28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pic>
        <p:nvPicPr>
          <p:cNvPr id="5" name="SecondaryLogo">
            <a:extLst>
              <a:ext uri="{FF2B5EF4-FFF2-40B4-BE49-F238E27FC236}">
                <a16:creationId xmlns:a16="http://schemas.microsoft.com/office/drawing/2014/main" id="{F0717B10-DDED-96F2-8910-BF6FDA2351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da-DK" sz="4799" dirty="0"/>
          </a:p>
        </p:txBody>
      </p:sp>
      <p:sp>
        <p:nvSpPr>
          <p:cNvPr id="38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43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39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programmering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08340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Selmann Andreassen</a:t>
            </a:r>
          </a:p>
        </p:txBody>
      </p:sp>
      <p:sp>
        <p:nvSpPr>
          <p:cNvPr id="40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22">
            <a:extLst>
              <a:ext uri="{FF2B5EF4-FFF2-40B4-BE49-F238E27FC236}">
                <a16:creationId xmlns:a16="http://schemas.microsoft.com/office/drawing/2014/main" id="{7D7626BE-428D-B549-D40F-DB8F9201F5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pic>
        <p:nvPicPr>
          <p:cNvPr id="7" name="SecondaryLogo">
            <a:extLst>
              <a:ext uri="{FF2B5EF4-FFF2-40B4-BE49-F238E27FC236}">
                <a16:creationId xmlns:a16="http://schemas.microsoft.com/office/drawing/2014/main" id="{618C9A71-0635-52C6-FF77-7C49E83134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30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26" name="Date_DateCustomA"/>
          <p:cNvSpPr txBox="1">
            <a:spLocks noChangeArrowheads="1"/>
          </p:cNvSpPr>
          <p:nvPr userDrawn="1"/>
        </p:nvSpPr>
        <p:spPr bwMode="auto">
          <a:xfrm>
            <a:off x="3678556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programmering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Selmann Andreassen</a:t>
            </a:r>
          </a:p>
        </p:txBody>
      </p:sp>
      <p:sp>
        <p:nvSpPr>
          <p:cNvPr id="27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5" name="SecondaryLogo">
            <a:extLst>
              <a:ext uri="{FF2B5EF4-FFF2-40B4-BE49-F238E27FC236}">
                <a16:creationId xmlns:a16="http://schemas.microsoft.com/office/drawing/2014/main" id="{099AC099-8271-52B3-B591-77C596730F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a-DK" dirty="0"/>
              <a:t>Insert title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r>
              <a:rPr lang="da-DK" dirty="0"/>
              <a:t>6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da-DK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da-DK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da-DK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 
Universitet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title style</a:t>
            </a:r>
            <a:endParaRPr lang="da-DK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text styles</a:t>
            </a:r>
            <a:endParaRPr lang="da-DK" dirty="0"/>
          </a:p>
          <a:p>
            <a:pPr lvl="1"/>
            <a:r>
              <a:rPr lang="da-DK" noProof="0" dirty="0"/>
              <a:t>Second level</a:t>
            </a:r>
            <a:endParaRPr lang="da-DK" dirty="0"/>
          </a:p>
          <a:p>
            <a:pPr lvl="2"/>
            <a:r>
              <a:rPr lang="da-DK" noProof="0" dirty="0"/>
              <a:t>Third level</a:t>
            </a:r>
            <a:endParaRPr lang="da-DK" dirty="0"/>
          </a:p>
          <a:p>
            <a:pPr lvl="3"/>
            <a:r>
              <a:rPr lang="da-DK" noProof="0" dirty="0"/>
              <a:t>Fourth level</a:t>
            </a:r>
            <a:endParaRPr lang="da-DK" dirty="0"/>
          </a:p>
          <a:p>
            <a:pPr lvl="4"/>
            <a:r>
              <a:rPr lang="da-DK" noProof="0" dirty="0"/>
              <a:t>Fifth level</a:t>
            </a:r>
            <a:endParaRPr lang="da-DK" dirty="0"/>
          </a:p>
          <a:p>
            <a:pPr lvl="5"/>
            <a:r>
              <a:rPr lang="da-DK" noProof="0" dirty="0"/>
              <a:t>6 level</a:t>
            </a:r>
            <a:endParaRPr lang="da-DK" dirty="0"/>
          </a:p>
          <a:p>
            <a:pPr lvl="6"/>
            <a:r>
              <a:rPr lang="da-DK" noProof="0" dirty="0"/>
              <a:t>7 level</a:t>
            </a:r>
            <a:endParaRPr lang="da-DK" dirty="0"/>
          </a:p>
          <a:p>
            <a:pPr lvl="7"/>
            <a:r>
              <a:rPr lang="da-DK" noProof="0" dirty="0"/>
              <a:t>8 level</a:t>
            </a:r>
            <a:endParaRPr lang="da-DK" dirty="0"/>
          </a:p>
          <a:p>
            <a:pPr lvl="8"/>
            <a:r>
              <a:rPr lang="da-DK" noProof="0" dirty="0"/>
              <a:t>9 level</a:t>
            </a:r>
            <a:endParaRPr lang="da-DK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19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objektorienteret programmering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38428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Per selmann andreassen</a:t>
            </a:r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797" y="6237312"/>
            <a:ext cx="44541" cy="346475"/>
          </a:xfrm>
          <a:prstGeom prst="rect">
            <a:avLst/>
          </a:prstGeom>
        </p:spPr>
      </p:pic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26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da-DK" smtClean="0"/>
              <a:pPr/>
              <a:t>28.01.2026</a:t>
            </a:fld>
            <a:r>
              <a:rPr lang="da-DK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da-DK" dirty="0"/>
          </a:p>
        </p:txBody>
      </p:sp>
      <p:pic>
        <p:nvPicPr>
          <p:cNvPr id="4" name="SecondaryLogo_sort">
            <a:extLst>
              <a:ext uri="{FF2B5EF4-FFF2-40B4-BE49-F238E27FC236}">
                <a16:creationId xmlns:a16="http://schemas.microsoft.com/office/drawing/2014/main" id="{9F781646-5A57-AAC5-0DB2-C3955CE0D1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68" y="6165304"/>
            <a:ext cx="1658237" cy="5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CFE-2CB0-1E08-5108-C038F112B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7A7BF-E502-F908-3CCB-340B29B6D8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e-voting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E936F-6BFE-6239-7DF3-6067AC9799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6B8285-EF74-C042-95FB-025EC40972AE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961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DB02-AA6F-1AFD-AF27-98323C44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5053-BB95-6FFA-104A-84D3B27E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68847-523D-6339-8273-28AB7309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21D8-2E7E-6D90-A796-1B506B67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1A676-D78B-DF12-925C-5464A4632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8D58B4-9909-2509-EB83-D16B63BCB86F}"/>
              </a:ext>
            </a:extLst>
          </p:cNvPr>
          <p:cNvSpPr/>
          <p:nvPr/>
        </p:nvSpPr>
        <p:spPr bwMode="auto">
          <a:xfrm>
            <a:off x="765820" y="2204864"/>
            <a:ext cx="6264696" cy="381642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84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56DF-59B9-5E64-EA7B-6105261B3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E8D0-B65B-3E48-FA2C-E1B5D9CAD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1523D-BBA5-A443-6BD2-031AA142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64607-20D4-8B71-B420-412881C5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3AEC8-2E5F-4501-E519-D68CE5CBB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3FDB8C-DCC5-1CC4-81E8-0AA23FCC23A7}"/>
              </a:ext>
            </a:extLst>
          </p:cNvPr>
          <p:cNvSpPr/>
          <p:nvPr/>
        </p:nvSpPr>
        <p:spPr bwMode="auto">
          <a:xfrm>
            <a:off x="765820" y="2780928"/>
            <a:ext cx="6264696" cy="324036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2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70FF-FBE8-C4B0-B3D8-A38269F8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5ED06-FA1C-76FD-F8EA-6D29986C2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172B0-8141-F0FD-575F-BCE7754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CE22-FAB6-DC88-BF76-978A6469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C9E9C-AB96-A092-C207-272D256E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C7DE67-FFC3-BCCF-9443-51F56B73C3E2}"/>
              </a:ext>
            </a:extLst>
          </p:cNvPr>
          <p:cNvSpPr/>
          <p:nvPr/>
        </p:nvSpPr>
        <p:spPr bwMode="auto">
          <a:xfrm>
            <a:off x="765820" y="3212976"/>
            <a:ext cx="6264696" cy="28083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1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DC48-007A-60AA-B8C2-74FBDC82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1B07-D43F-03B1-A3BA-04A30611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AE836-8A48-CF4D-293B-53E74590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ABA6-968D-F6B6-8017-D7A33392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1EA4C-847E-C9BD-EFD1-01FD4A82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EC9BB0-B694-C274-D2D5-376FFEC5F0AB}"/>
              </a:ext>
            </a:extLst>
          </p:cNvPr>
          <p:cNvSpPr/>
          <p:nvPr/>
        </p:nvSpPr>
        <p:spPr bwMode="auto">
          <a:xfrm>
            <a:off x="765820" y="4293096"/>
            <a:ext cx="6264696" cy="172819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2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3ACF-707D-B9F0-44AE-440BFAA8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319F-F1A4-206E-6E07-186284113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EEB7-7983-E621-C5CC-AAF6629F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D98E-2123-FB08-C8BB-CBBF682B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368C3-F377-AF39-FFE6-16FD19B0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22AD47-0035-0D6E-216C-E9262CFEE315}"/>
              </a:ext>
            </a:extLst>
          </p:cNvPr>
          <p:cNvSpPr/>
          <p:nvPr/>
        </p:nvSpPr>
        <p:spPr bwMode="auto">
          <a:xfrm>
            <a:off x="765820" y="5589240"/>
            <a:ext cx="6264696" cy="432048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5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D002-4483-04C3-AB92-7B909C1D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38EBA-B715-FED4-E3CB-B4A105B0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600" noProof="0" dirty="0"/>
              <a:t>Ved en folkeafstemning skal de stemmeberettigede svare JA</a:t>
            </a:r>
          </a:p>
          <a:p>
            <a:r>
              <a:rPr lang="da-DK" sz="1600" noProof="0" dirty="0"/>
              <a:t>eller NEJ til et konkret spørgsmål.</a:t>
            </a:r>
          </a:p>
          <a:p>
            <a:endParaRPr lang="da-DK" sz="1600" dirty="0"/>
          </a:p>
          <a:p>
            <a:pPr>
              <a:buNone/>
            </a:pPr>
            <a:r>
              <a:rPr lang="da-DK" sz="1600" dirty="0"/>
              <a:t>Det skal foregå elektronisk, hvor stemmerne afgives via computer.</a:t>
            </a:r>
          </a:p>
          <a:p>
            <a:endParaRPr lang="da-DK" sz="1600" dirty="0"/>
          </a:p>
          <a:p>
            <a:r>
              <a:rPr lang="da-DK" sz="1600" dirty="0"/>
              <a:t>Fordele			Ulemper</a:t>
            </a:r>
          </a:p>
          <a:p>
            <a:r>
              <a:rPr lang="da-DK" sz="1600" dirty="0"/>
              <a:t>- Færre ressourcer		- Sikkerhed (hacking, nedbrud...)</a:t>
            </a:r>
            <a:br>
              <a:rPr lang="da-DK" sz="1600" dirty="0"/>
            </a:br>
            <a:r>
              <a:rPr lang="da-DK" sz="1600" dirty="0"/>
              <a:t>- Hurtigere resultat		- Ingen fælles opfattelse af valget</a:t>
            </a:r>
            <a:br>
              <a:rPr lang="da-DK" sz="1600" dirty="0"/>
            </a:br>
            <a:r>
              <a:rPr lang="da-DK" sz="1600" dirty="0"/>
              <a:t>- Nemmere for nogle	- Sværere for nogle</a:t>
            </a:r>
          </a:p>
          <a:p>
            <a:pPr>
              <a:buNone/>
            </a:pPr>
            <a:endParaRPr lang="da-DK" sz="1600" dirty="0"/>
          </a:p>
          <a:p>
            <a:pPr>
              <a:buNone/>
            </a:pPr>
            <a:r>
              <a:rPr lang="da-DK" sz="1600" dirty="0"/>
              <a:t>Afstemningen skal opsamles på en server, men da det</a:t>
            </a:r>
          </a:p>
          <a:p>
            <a:pPr>
              <a:buNone/>
            </a:pPr>
            <a:r>
              <a:rPr lang="da-DK" sz="1600" dirty="0"/>
              <a:t>selvfølgelig skal foregå hemmeligt, skal stemmerne ikke</a:t>
            </a:r>
          </a:p>
          <a:p>
            <a:pPr>
              <a:buNone/>
            </a:pPr>
            <a:r>
              <a:rPr lang="da-DK" sz="1600" dirty="0"/>
              <a:t>bare sendes, så der skal gøres et eller andet smart.</a:t>
            </a:r>
          </a:p>
          <a:p>
            <a:endParaRPr lang="da-DK" sz="1600" noProof="0" dirty="0"/>
          </a:p>
          <a:p>
            <a:r>
              <a:rPr lang="da-DK" sz="1600" noProof="0" dirty="0"/>
              <a:t>Løsningen er </a:t>
            </a:r>
            <a:r>
              <a:rPr lang="da-DK" sz="1600" b="1" noProof="0" dirty="0"/>
              <a:t>Multi-Party Computation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C6856-7EC2-59B8-03DB-0D3B916C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8009-E4AA-C27D-65A9-684EC063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9A46E-E106-93D4-96A9-29C7CC9B7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539" y="1373020"/>
            <a:ext cx="4521365" cy="452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3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CD02-6EC1-FFCC-B8E5-8920881A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CDB5-366F-5888-AE6B-092C49FA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9A6A5-3D83-F1CF-0F78-7ACCA78B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21651-07D1-2FD2-414B-3A0A02CC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341E06-2A8E-3DCC-A28D-68E881F41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872741"/>
              </p:ext>
            </p:extLst>
          </p:nvPr>
        </p:nvGraphicFramePr>
        <p:xfrm>
          <a:off x="2030971" y="3429000"/>
          <a:ext cx="270862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5CBA363-52E4-799D-C582-E3C79BC7B0D9}"/>
              </a:ext>
            </a:extLst>
          </p:cNvPr>
          <p:cNvSpPr/>
          <p:nvPr/>
        </p:nvSpPr>
        <p:spPr bwMode="auto">
          <a:xfrm>
            <a:off x="765820" y="1844824"/>
            <a:ext cx="3973779" cy="144016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3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5F6C-D3D1-08A0-7F45-78088CA1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541F4-40E1-ACAD-2EB7-0DF92BE6A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BF7A0-5646-206A-3077-DFD17D05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4B77-AED4-6963-7252-10D31C66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0655BA-3687-776A-FFF6-AA9EB70EE962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270862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26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982B-6CFC-5636-6B44-8EBA1B02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A259-B037-D51A-813E-435F218B8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0D89D-E016-DA3B-97F3-3D90F74F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72CDA-B73E-D3DF-588A-AC9FCFD5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1E143F-26C3-D73E-5090-78017A47C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393409"/>
              </p:ext>
            </p:extLst>
          </p:nvPr>
        </p:nvGraphicFramePr>
        <p:xfrm>
          <a:off x="2030971" y="3429000"/>
          <a:ext cx="4062942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97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B676-55D9-A76B-DEA9-CEBB4E84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BDDF-7CFF-2660-30DE-E66EFA783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00F18-6FF7-7B4E-40D9-807B6784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537F8-A38B-ED5E-7BF2-3E628BD9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0A0001-4B3D-0792-229B-0CD4A431C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92225"/>
              </p:ext>
            </p:extLst>
          </p:nvPr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69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56D0-C4D4-FDF8-B5C2-563293B2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C7E1-3DB6-F7D9-50CE-08A5357A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C7E9F-533D-8CD0-BAC2-53339CD7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E692D-627B-FA8B-BAC8-8D9550A2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A8B3B6-CDAE-117B-AC4C-D18346754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61564"/>
              </p:ext>
            </p:extLst>
          </p:nvPr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22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0F34-8BA0-92ED-0930-DABB3A04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24BD-D7BE-06AE-4B96-2CA2BAC73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093A5-B18D-59F0-8431-1A672E9B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0767E-EAC6-FD74-6F66-BD16B878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3E4852-743F-AB4F-8562-E9648356C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8750"/>
              </p:ext>
            </p:extLst>
          </p:nvPr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404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40A0-9937-A716-FD69-79640F63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3E75-B09B-D5B0-A87B-57BBE7821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C44B2-ED73-C7DB-50ED-4E0D7386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58C44-95DB-3572-13DB-BD32E24F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AB02ED-75F0-FFAB-C9E4-198B601A3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0836"/>
              </p:ext>
            </p:extLst>
          </p:nvPr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79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3B72-94CA-88B0-6838-5BD1DC04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042F-A09D-C812-5484-CFCAFC5D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F8F5E-A985-9675-82D8-0AC20AC1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F2635-D46F-C851-D074-EE669D0B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AFE57F-1BAF-2EC1-AF65-D4B70AF4B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337161"/>
              </p:ext>
            </p:extLst>
          </p:nvPr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34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B6106-3BF1-AD79-A525-DD344C00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C573-C5E4-BDEB-F1CB-2FE86DF3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F182F-F4B0-DF3C-2EAE-AC3421BB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60EEE-1665-AD96-3DD1-62A7B3B4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C65AD5-581F-DCD6-3DCB-32ACB23EC54C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059663-061E-9C3B-F43D-4CC2B5E48223}"/>
              </a:ext>
            </a:extLst>
          </p:cNvPr>
          <p:cNvSpPr txBox="1"/>
          <p:nvPr/>
        </p:nvSpPr>
        <p:spPr>
          <a:xfrm rot="923464">
            <a:off x="4367589" y="1464638"/>
            <a:ext cx="7479465" cy="1198002"/>
          </a:xfrm>
          <a:prstGeom prst="rect">
            <a:avLst/>
          </a:prstGeom>
          <a:solidFill>
            <a:schemeClr val="bg1"/>
          </a:solidFill>
          <a:ln w="22225">
            <a:solidFill>
              <a:srgbClr val="C00000"/>
            </a:solidFill>
          </a:ln>
        </p:spPr>
        <p:txBody>
          <a:bodyPr wrap="none" lIns="72000" tIns="72000" rIns="72000" bIns="72000" rtlCol="0">
            <a:spAutoFit/>
          </a:bodyPr>
          <a:lstStyle/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Hvordan kan Server A, Server B og Server C tilsammen</a:t>
            </a:r>
          </a:p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kende resultatet af folkeafstemningen uden kendskab</a:t>
            </a:r>
          </a:p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til, hvad de enkelte har stemt ?</a:t>
            </a:r>
          </a:p>
        </p:txBody>
      </p:sp>
    </p:spTree>
    <p:extLst>
      <p:ext uri="{BB962C8B-B14F-4D97-AF65-F5344CB8AC3E}">
        <p14:creationId xmlns:p14="http://schemas.microsoft.com/office/powerpoint/2010/main" val="74476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FA1B-28CE-7AF1-7523-3B429788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EC96-B5C1-C167-5B77-98DCE5566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0" dirty="0"/>
              <a:t>Ved en folkeafstemning skal de stemmeberettigede stemme JA eller NEJ til et konkret spørgsmål.</a:t>
            </a:r>
          </a:p>
          <a:p>
            <a:endParaRPr lang="da-DK" sz="1800" noProof="0" dirty="0"/>
          </a:p>
          <a:p>
            <a:r>
              <a:rPr lang="da-DK" sz="1800" dirty="0"/>
              <a:t>Multi-Party Computation</a:t>
            </a:r>
          </a:p>
          <a:p>
            <a:pPr lvl="1"/>
            <a:r>
              <a:rPr lang="da-DK" sz="1800" dirty="0"/>
              <a:t>JA repræsenteres af tallet 1</a:t>
            </a:r>
          </a:p>
          <a:p>
            <a:pPr lvl="1"/>
            <a:r>
              <a:rPr lang="da-DK" sz="1800" dirty="0"/>
              <a:t>NEJ repræsenteres af tallet 0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0C738-2EAD-C90B-B722-D44CFF41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0698-8EE0-16CB-5EDC-363F89FA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F461A3-68E5-C61C-E5C0-C0F653A27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08597"/>
              </p:ext>
            </p:extLst>
          </p:nvPr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5CFDA8-88DC-FAD2-234B-E822A17441CB}"/>
              </a:ext>
            </a:extLst>
          </p:cNvPr>
          <p:cNvSpPr txBox="1"/>
          <p:nvPr/>
        </p:nvSpPr>
        <p:spPr>
          <a:xfrm rot="923464">
            <a:off x="4375411" y="1113773"/>
            <a:ext cx="7463820" cy="1899733"/>
          </a:xfrm>
          <a:prstGeom prst="rect">
            <a:avLst/>
          </a:prstGeom>
          <a:solidFill>
            <a:schemeClr val="bg1"/>
          </a:solidFill>
          <a:ln w="22225">
            <a:solidFill>
              <a:srgbClr val="C00000"/>
            </a:solidFill>
          </a:ln>
        </p:spPr>
        <p:txBody>
          <a:bodyPr wrap="none" lIns="72000" tIns="72000" rIns="72000" bIns="72000" rtlCol="0">
            <a:spAutoFit/>
          </a:bodyPr>
          <a:lstStyle/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Hvordan kan Server A, Server B og Server C tilsammen</a:t>
            </a:r>
          </a:p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kende resultatet af folkeafstemningen uden kendskab</a:t>
            </a:r>
          </a:p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til, hvad de enkelte har stemt ?</a:t>
            </a:r>
          </a:p>
          <a:p>
            <a:pPr>
              <a:lnSpc>
                <a:spcPct val="95000"/>
              </a:lnSpc>
            </a:pPr>
            <a:endParaRPr lang="da-DK" sz="2400" noProof="1">
              <a:latin typeface="+mn-lt"/>
            </a:endParaRPr>
          </a:p>
          <a:p>
            <a:pPr>
              <a:lnSpc>
                <a:spcPct val="95000"/>
              </a:lnSpc>
            </a:pPr>
            <a:r>
              <a:rPr lang="da-DK" sz="2400" noProof="1">
                <a:latin typeface="+mn-lt"/>
              </a:rPr>
              <a:t>Summen </a:t>
            </a:r>
            <a:r>
              <a:rPr lang="da-DK" sz="2400" noProof="1">
                <a:solidFill>
                  <a:srgbClr val="C00000"/>
                </a:solidFill>
                <a:latin typeface="+mn-lt"/>
              </a:rPr>
              <a:t>6 + (-2) </a:t>
            </a:r>
            <a:r>
              <a:rPr lang="da-DK" sz="2400" noProof="1">
                <a:solidFill>
                  <a:srgbClr val="C00000"/>
                </a:solidFill>
              </a:rPr>
              <a:t>+ (-2)</a:t>
            </a:r>
            <a:r>
              <a:rPr lang="da-DK" sz="2400" noProof="1"/>
              <a:t> giver </a:t>
            </a:r>
            <a:r>
              <a:rPr lang="da-DK" sz="2400" noProof="1">
                <a:solidFill>
                  <a:srgbClr val="C00000"/>
                </a:solidFill>
              </a:rPr>
              <a:t>2</a:t>
            </a:r>
            <a:r>
              <a:rPr lang="da-DK" sz="2400" noProof="1"/>
              <a:t>, dvs 2 har svaret JA</a:t>
            </a:r>
            <a:endParaRPr lang="da-DK" sz="2400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241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D916-439D-C63B-E0F9-3F295E98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1B80-6A77-0BF2-652B-1DF4E2C3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17B45-C6C8-8616-9472-F6516CA3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AFF76-3370-FCA0-FD72-0D35F96A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7F4EA-5C21-822E-723D-6F5328BAA419}"/>
              </a:ext>
            </a:extLst>
          </p:cNvPr>
          <p:cNvSpPr/>
          <p:nvPr/>
        </p:nvSpPr>
        <p:spPr bwMode="auto">
          <a:xfrm>
            <a:off x="909836" y="1916832"/>
            <a:ext cx="10585176" cy="288032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9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2D15-9EFA-1F55-093A-04438C34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5B2EE-9598-BBAF-B043-CA176C2E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724DC-4CBE-16DB-18F7-6813386F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67BC7-5440-D160-2290-B5DF5327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21962-81E1-3E03-7BD6-8CA4C44A8CA3}"/>
              </a:ext>
            </a:extLst>
          </p:cNvPr>
          <p:cNvSpPr/>
          <p:nvPr/>
        </p:nvSpPr>
        <p:spPr bwMode="auto">
          <a:xfrm>
            <a:off x="909836" y="2708920"/>
            <a:ext cx="10585176" cy="208823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793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EF27F-A597-30FA-8BBB-66205286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9B90B-7EE2-49CA-139E-C93D6BC8A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stemme.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FCA08-99DF-529F-8247-6EF71FFD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C2874-19DB-3070-3322-0E590475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6E687-6B76-2BF4-6CDE-59486995D95C}"/>
              </a:ext>
            </a:extLst>
          </p:cNvPr>
          <p:cNvSpPr/>
          <p:nvPr/>
        </p:nvSpPr>
        <p:spPr bwMode="auto">
          <a:xfrm>
            <a:off x="909836" y="3284984"/>
            <a:ext cx="10585176" cy="1512168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73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11CF-471D-5C75-6BFC-5280B81A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0760-37C2-8B85-580C-B4C13DDDB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stemme.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21A5A-ABA4-ABE5-A0AE-4E38D368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818F6-76D7-BBE0-A90B-B3D3DA03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381D2-F483-1B1C-AD1C-8110C5309C13}"/>
              </a:ext>
            </a:extLst>
          </p:cNvPr>
          <p:cNvSpPr/>
          <p:nvPr/>
        </p:nvSpPr>
        <p:spPr bwMode="auto">
          <a:xfrm>
            <a:off x="909836" y="3645024"/>
            <a:ext cx="10585176" cy="1152128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92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FF65-8F9A-78E0-2306-C7EE1D01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8168-51F4-A48F-3A08-E886F29A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stemme.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F4576-0F1D-728E-F0E9-B508E947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498CE-7E47-03B4-545F-A8ADA2E5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DDEED-2A6B-B60E-B48F-1C2332F98B1D}"/>
              </a:ext>
            </a:extLst>
          </p:cNvPr>
          <p:cNvSpPr/>
          <p:nvPr/>
        </p:nvSpPr>
        <p:spPr bwMode="auto">
          <a:xfrm>
            <a:off x="909836" y="4045050"/>
            <a:ext cx="10585176" cy="752101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AD7B-A4BB-ADC1-1811-BB3B9B15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3D83A-2021-D8F4-E769-FDD829EDC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Eksempel på et rollespil i en klasse </a:t>
            </a:r>
            <a:r>
              <a:rPr lang="da-DK" dirty="0"/>
              <a:t>– </a:t>
            </a:r>
            <a:r>
              <a:rPr lang="da-DK" noProof="0" dirty="0"/>
              <a:t>bodygramming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dirty="0"/>
              <a:t>Der udpeges 10 elever i klassen, der skal agere stemmeberettigede ved en folkeafstemning, og 3 elever i klasser, der skal agere servere ved afstemningen.</a:t>
            </a:r>
          </a:p>
          <a:p>
            <a:pPr>
              <a:buNone/>
            </a:pPr>
            <a:r>
              <a:rPr lang="da-DK" sz="1800" dirty="0"/>
              <a:t>De 10 stemmeberettigede vælger hver for sig JA eller NEJ, dvs 1 eller 0, samt delstemmer, der tilsammen summerer op til 1 eller 0 afhængig af deres stemme.</a:t>
            </a:r>
          </a:p>
          <a:p>
            <a:pPr>
              <a:buNone/>
            </a:pPr>
            <a:r>
              <a:rPr lang="da-DK" sz="1800" dirty="0"/>
              <a:t>Serverne modtager på små sedler delstemmerne fra de 10 elever og bestemmer delsummen.</a:t>
            </a:r>
          </a:p>
          <a:p>
            <a:pPr>
              <a:buNone/>
            </a:pPr>
            <a:r>
              <a:rPr lang="da-DK" sz="1800" dirty="0"/>
              <a:t>Endelig udveksler de tre servere delsummer, som lægges sammen.</a:t>
            </a:r>
          </a:p>
          <a:p>
            <a:pPr>
              <a:buNone/>
            </a:pPr>
            <a:r>
              <a:rPr lang="da-DK" sz="1800" dirty="0"/>
              <a:t>Serverne offentliggør herefter resultatet.</a:t>
            </a:r>
          </a:p>
          <a:p>
            <a:endParaRPr lang="da-DK" sz="1800" dirty="0"/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9255E-8F98-C27C-E9F7-D91A833E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EE06-3DFF-F8B8-5D77-AF9A848D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6784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0CA19-C395-A698-91A8-F2F76C4F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5313-F0B5-6856-6AAA-CB5C743C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Servere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2EB7C-A1CE-6BA6-0EAB-67FD7D21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2C0D-FA37-EBC3-8648-789D2415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F50138-97F6-8F89-353B-1514FAE9DCC6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6F75315-4B81-6C98-F80E-DDD2DDE3D752}"/>
              </a:ext>
            </a:extLst>
          </p:cNvPr>
          <p:cNvSpPr/>
          <p:nvPr/>
        </p:nvSpPr>
        <p:spPr bwMode="auto">
          <a:xfrm>
            <a:off x="765820" y="1891746"/>
            <a:ext cx="1265151" cy="132123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DAFA6-D177-9F67-2FB6-6A99380199A4}"/>
              </a:ext>
            </a:extLst>
          </p:cNvPr>
          <p:cNvSpPr/>
          <p:nvPr/>
        </p:nvSpPr>
        <p:spPr bwMode="auto">
          <a:xfrm>
            <a:off x="2638028" y="1891746"/>
            <a:ext cx="2376264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929F8-EC57-4A69-05C5-CD33C8645EC9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497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1784-EA3E-6277-FFA5-4D7BB54D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9733-6937-BB13-8FD1-F8650B2B1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Servere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A6002-3742-F490-362C-FC5B416A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1480-DDAE-C992-3859-E85D1B68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E9538E-374C-38A6-68EE-EBE77A2196E7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3E63B0B-3C29-FBED-D3DE-469FC3284823}"/>
              </a:ext>
            </a:extLst>
          </p:cNvPr>
          <p:cNvSpPr/>
          <p:nvPr/>
        </p:nvSpPr>
        <p:spPr bwMode="auto">
          <a:xfrm>
            <a:off x="765820" y="2817812"/>
            <a:ext cx="1265151" cy="395163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9EC36-71A6-0F9C-36BC-477A85A01813}"/>
              </a:ext>
            </a:extLst>
          </p:cNvPr>
          <p:cNvSpPr/>
          <p:nvPr/>
        </p:nvSpPr>
        <p:spPr bwMode="auto">
          <a:xfrm>
            <a:off x="2638028" y="1891746"/>
            <a:ext cx="2376264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6AB8A6-321C-FDEA-A2B3-409386D16E7E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884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CD78-2147-3152-4952-7A43D66A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7FB9-512F-C47D-231B-89B28502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8D0EA-84CA-D027-61AB-79D3AFBD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D1EC-13CD-C321-0555-001AB4B6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C1FB05-28FE-3EDE-38F0-4ED663A2B2EF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F4B04FB-475D-75D6-3A72-FCE630186B39}"/>
              </a:ext>
            </a:extLst>
          </p:cNvPr>
          <p:cNvSpPr/>
          <p:nvPr/>
        </p:nvSpPr>
        <p:spPr bwMode="auto">
          <a:xfrm>
            <a:off x="2638028" y="1891746"/>
            <a:ext cx="2376264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2269B1-A9AC-2DC9-728E-62F3A88AEAA3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19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1AE4-9046-C1F2-B426-5FC1329CF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9DE99-8C85-7413-EE8B-5D3A0D24A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F1FC5-3385-E2D0-4504-9232B135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C0702-9830-8FD8-2AD5-A3F344A8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A0ABEA-347E-977C-BFF1-D88B821A4942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2710AB7-4322-4715-6768-0330CAFA7E77}"/>
              </a:ext>
            </a:extLst>
          </p:cNvPr>
          <p:cNvSpPr/>
          <p:nvPr/>
        </p:nvSpPr>
        <p:spPr bwMode="auto">
          <a:xfrm>
            <a:off x="2638028" y="2348880"/>
            <a:ext cx="2376264" cy="864095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29E142-83EE-E4D6-A2F5-56D310E0532A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484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D8F8A-3E12-34C4-49EA-066AA8DD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E391-503D-4A8F-1E6F-E3586544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B2DE2-0B4D-423E-5494-F14B3D92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49DE-EE6A-8A13-FCFE-8CDC83B0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3385A5-5ADD-AF4C-9322-4AD139B60772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F37062E-D88F-7305-D008-4862A9095BDC}"/>
              </a:ext>
            </a:extLst>
          </p:cNvPr>
          <p:cNvSpPr/>
          <p:nvPr/>
        </p:nvSpPr>
        <p:spPr bwMode="auto">
          <a:xfrm>
            <a:off x="2638028" y="2780928"/>
            <a:ext cx="2376264" cy="39516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22ECDF-4DC8-0AAA-F158-B9D82D3D2452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895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3998-6D67-8119-10CE-CDE87DAA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0DDD0-7DA5-87BD-19E6-E6C01C18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285BE-996B-BC7F-10A7-BB496411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83887-396B-32F5-B906-0E2D03EB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BF4AFC-1CFA-66D3-E487-2137CD284202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4000D55-A33B-D33A-EDF7-C6E7C75454B6}"/>
              </a:ext>
            </a:extLst>
          </p:cNvPr>
          <p:cNvSpPr/>
          <p:nvPr/>
        </p:nvSpPr>
        <p:spPr bwMode="auto">
          <a:xfrm>
            <a:off x="5086300" y="1869231"/>
            <a:ext cx="5904656" cy="1321229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307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14B4-80D9-E280-1933-93C57B63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37C4-B86E-1242-AB2D-C0CBAD107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3C9E5-185B-A2DC-E174-C863DFF3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220CA-B26F-94B2-8772-DF899F06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136F94-8E84-F789-1327-128C8E66AEAE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56A6BE1-CE2F-BF76-6918-CFCCF61BB350}"/>
              </a:ext>
            </a:extLst>
          </p:cNvPr>
          <p:cNvSpPr/>
          <p:nvPr/>
        </p:nvSpPr>
        <p:spPr bwMode="auto">
          <a:xfrm>
            <a:off x="5086300" y="2348880"/>
            <a:ext cx="5904656" cy="84158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321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8732-10C8-579C-F336-4CF8424E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9BE6-DA88-8F4B-B217-BBE8D519F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stemme og 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4D98B-90F5-04F9-5E44-408279B0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41CE-A988-79D1-A256-67F5E281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283DC-3B2A-A16F-2722-2BFCF1A28690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699431-EA93-5255-0906-71269E701E68}"/>
              </a:ext>
            </a:extLst>
          </p:cNvPr>
          <p:cNvSpPr/>
          <p:nvPr/>
        </p:nvSpPr>
        <p:spPr bwMode="auto">
          <a:xfrm>
            <a:off x="5086300" y="2708920"/>
            <a:ext cx="5904656" cy="48154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3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5621-117E-5EEF-3589-BA87E152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5AD46-9D78-9A71-B64F-75B04C9AD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stemme og 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2A797-EEB0-86C1-481F-500F2A5C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657B-B02B-DF6E-ABA5-7FD31014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50562E-9570-FAD7-2EE5-32322E675B3A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798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DE90-9203-B3FB-6094-5F3821FF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D122F-E7B6-05ED-B5F1-BBA94F341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dirty="0"/>
              <a:t>Vi skal nu tænke ‘objektorienteret’</a:t>
            </a:r>
          </a:p>
          <a:p>
            <a:endParaRPr lang="da-DK" sz="1800" dirty="0"/>
          </a:p>
          <a:p>
            <a:pPr>
              <a:buNone/>
            </a:pPr>
            <a:r>
              <a:rPr lang="da-DK" sz="1800" b="1" dirty="0"/>
              <a:t>Objekt</a:t>
            </a:r>
            <a:r>
              <a:rPr lang="da-DK" sz="1800" dirty="0"/>
              <a:t>		</a:t>
            </a:r>
            <a:r>
              <a:rPr lang="da-DK" sz="1800" b="1" dirty="0"/>
              <a:t>Data</a:t>
            </a:r>
            <a:r>
              <a:rPr lang="da-DK" sz="1800" dirty="0"/>
              <a:t>			</a:t>
            </a:r>
            <a:r>
              <a:rPr lang="da-DK" sz="1800" b="1" dirty="0"/>
              <a:t>Metoder</a:t>
            </a:r>
          </a:p>
          <a:p>
            <a:pPr>
              <a:buNone/>
            </a:pPr>
            <a:r>
              <a:rPr lang="da-DK" sz="1800" dirty="0"/>
              <a:t>Person		navn og stemme		stemme og sende delstemmer til serverne</a:t>
            </a:r>
          </a:p>
          <a:p>
            <a:pPr>
              <a:buNone/>
            </a:pPr>
            <a:r>
              <a:rPr lang="da-DK" sz="1800" dirty="0"/>
              <a:t>Server		navn og delstemmer	modtage delstemmer og beregne delsummen</a:t>
            </a:r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r>
              <a:rPr lang="da-DK" sz="1800" dirty="0"/>
              <a:t>Summen af servernes delsummer er antallet af </a:t>
            </a:r>
            <a:r>
              <a:rPr lang="da-DK" sz="1800" dirty="0" err="1"/>
              <a:t>JA-sigere</a:t>
            </a:r>
            <a:endParaRPr lang="da-DK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65B9A-1A64-B2CD-C0EC-5390AF450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elektroniske valg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DB5F-59A0-711F-A5FB-E1603AC0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28.01.2026</a:t>
            </a:fld>
            <a:r>
              <a:rPr lang="da-DK"/>
              <a:t>08-12-2023</a:t>
            </a:r>
            <a:endParaRPr lang="da-D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FCFC85-C43B-1EA6-B362-B40DB748F1BE}"/>
              </a:ext>
            </a:extLst>
          </p:cNvPr>
          <p:cNvGraphicFramePr>
            <a:graphicFrameLocks noGrp="1"/>
          </p:cNvGraphicFramePr>
          <p:nvPr/>
        </p:nvGraphicFramePr>
        <p:xfrm>
          <a:off x="2030971" y="3429000"/>
          <a:ext cx="812588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314">
                  <a:extLst>
                    <a:ext uri="{9D8B030D-6E8A-4147-A177-3AD203B41FA5}">
                      <a16:colId xmlns:a16="http://schemas.microsoft.com/office/drawing/2014/main" val="3322756540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389343488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954945055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182110303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2146679606"/>
                    </a:ext>
                  </a:extLst>
                </a:gridCol>
                <a:gridCol w="1354314">
                  <a:extLst>
                    <a:ext uri="{9D8B030D-6E8A-4147-A177-3AD203B41FA5}">
                      <a16:colId xmlns:a16="http://schemas.microsoft.com/office/drawing/2014/main" val="351421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Server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41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8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Person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956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710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2553B9-0DEE-B36C-F640-CA680D52DD78}"/>
              </a:ext>
            </a:extLst>
          </p:cNvPr>
          <p:cNvSpPr txBox="1"/>
          <p:nvPr/>
        </p:nvSpPr>
        <p:spPr>
          <a:xfrm>
            <a:off x="10308771" y="2950029"/>
            <a:ext cx="65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endParaRPr lang="en-GB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9303196"/>
      </p:ext>
    </p:extLst>
  </p:cSld>
  <p:clrMapOvr>
    <a:masterClrMapping/>
  </p:clrMapOvr>
</p:sld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Macintosh PowerPoint</Application>
  <PresentationFormat>Custom</PresentationFormat>
  <Paragraphs>747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AU Peto</vt:lpstr>
      <vt:lpstr>Arial</vt:lpstr>
      <vt:lpstr>Calibri</vt:lpstr>
      <vt:lpstr>AU Passata</vt:lpstr>
      <vt:lpstr>Georgia</vt:lpstr>
      <vt:lpstr>AU Passata Light</vt:lpstr>
      <vt:lpstr>AU 16:9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  <vt:lpstr>elektroniske valg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2026-01-28T13:52:48Z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ustomerId">
    <vt:lpwstr>auoffice</vt:lpwstr>
  </property>
  <property fmtid="{D5CDD505-2E9C-101B-9397-08002B2CF9AE}" pid="58" name="TemplateId">
    <vt:lpwstr>636196524199658508</vt:lpwstr>
  </property>
  <property fmtid="{D5CDD505-2E9C-101B-9397-08002B2CF9AE}" pid="59" name="UserProfileId">
    <vt:lpwstr>638376475290379762</vt:lpwstr>
  </property>
  <property fmtid="{D5CDD505-2E9C-101B-9397-08002B2CF9AE}" pid="60" name="TemplafyTimeStamp">
    <vt:lpwstr>2017-02-24T14:35:30.3621506Z</vt:lpwstr>
  </property>
  <property fmtid="{D5CDD505-2E9C-101B-9397-08002B2CF9AE}" pid="61" name="OfficeID">
    <vt:lpwstr>5150</vt:lpwstr>
  </property>
  <property fmtid="{D5CDD505-2E9C-101B-9397-08002B2CF9AE}" pid="62" name="colorthemechange">
    <vt:lpwstr>True</vt:lpwstr>
  </property>
</Properties>
</file>